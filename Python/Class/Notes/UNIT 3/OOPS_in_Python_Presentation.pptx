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7" r:id="rId3"/>
    <p:sldId id="267" r:id="rId4"/>
    <p:sldId id="263" r:id="rId5"/>
    <p:sldId id="268" r:id="rId6"/>
    <p:sldId id="258" r:id="rId7"/>
    <p:sldId id="259" r:id="rId8"/>
    <p:sldId id="260" r:id="rId9"/>
    <p:sldId id="261" r:id="rId10"/>
    <p:sldId id="262" r:id="rId11"/>
    <p:sldId id="264" r:id="rId12"/>
    <p:sldId id="265" r:id="rId13"/>
    <p:sldId id="266" r:id="rId14"/>
    <p:sldId id="269" r:id="rId15"/>
    <p:sldId id="270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900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69" d="100"/>
          <a:sy n="69" d="100"/>
        </p:scale>
        <p:origin x="1416" y="6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4/25/2025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4/25/2025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4/25/2025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4/25/2025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2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2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2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2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32510" y="1604675"/>
            <a:ext cx="8229600" cy="1143000"/>
          </a:xfrm>
        </p:spPr>
        <p:txBody>
          <a:bodyPr>
            <a:normAutofit fontScale="90000"/>
          </a:bodyPr>
          <a:lstStyle/>
          <a:p>
            <a:r>
              <a:rPr b="1" dirty="0">
                <a:solidFill>
                  <a:schemeClr val="accent4">
                    <a:lumMod val="75000"/>
                  </a:schemeClr>
                </a:solidFill>
              </a:rPr>
              <a:t>Object-Oriented Programming (OOPS) in Python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3484418"/>
            <a:ext cx="8229600" cy="699655"/>
          </a:xfrm>
        </p:spPr>
        <p:txBody>
          <a:bodyPr/>
          <a:lstStyle/>
          <a:p>
            <a:pPr marL="0" indent="0" algn="ctr">
              <a:buNone/>
            </a:pPr>
            <a:r>
              <a:rPr dirty="0"/>
              <a:t>The 4 Pillars of Modern </a:t>
            </a:r>
            <a:r>
              <a:rPr dirty="0" smtClean="0"/>
              <a:t>Programmin</a:t>
            </a:r>
            <a:r>
              <a:rPr lang="en-US" dirty="0" smtClean="0"/>
              <a:t>g</a:t>
            </a: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is OOP?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Object-Oriented Programming (OOP) is a paradigm based on objects and classes.</a:t>
            </a:r>
          </a:p>
          <a:p>
            <a:r>
              <a:t>Python supports OOP with simplicity.</a:t>
            </a:r>
          </a:p>
          <a:p>
            <a:r>
              <a:t>Key idea: Model real-world entities into code.</a:t>
            </a:r>
          </a:p>
          <a:p>
            <a:endParaRPr/>
          </a:p>
          <a:p>
            <a:r>
              <a:t>Example: Car, Bank, Dog etc.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882015"/>
            <a:ext cx="8229600" cy="4525963"/>
          </a:xfrm>
        </p:spPr>
        <p:txBody>
          <a:bodyPr>
            <a:normAutofit lnSpcReduction="10000"/>
          </a:bodyPr>
          <a:lstStyle/>
          <a:p>
            <a:r>
              <a:rPr lang="en-US" dirty="0"/>
              <a:t>Object are real world entities.</a:t>
            </a:r>
          </a:p>
          <a:p>
            <a:r>
              <a:rPr lang="en-US" dirty="0"/>
              <a:t> Classes are the group of those entities</a:t>
            </a:r>
          </a:p>
          <a:p>
            <a:r>
              <a:rPr lang="en-US" dirty="0"/>
              <a:t> </a:t>
            </a:r>
            <a:r>
              <a:rPr lang="en-US" altLang="en-US" dirty="0"/>
              <a:t>Python treats almost everything as an object that has certain characteristics (properties) and actions it can perform (methods)</a:t>
            </a:r>
          </a:p>
          <a:p>
            <a:r>
              <a:rPr lang="en-US" altLang="en-US" dirty="0"/>
              <a:t>A class is like “Blueprint” or “skeleton” for creating object</a:t>
            </a:r>
            <a:r>
              <a:rPr lang="en-US" altLang="en-US" dirty="0" smtClean="0"/>
              <a:t>.</a:t>
            </a:r>
          </a:p>
          <a:p>
            <a:r>
              <a:rPr lang="en-US" altLang="en-US" dirty="0"/>
              <a:t> </a:t>
            </a:r>
            <a:r>
              <a:rPr lang="en-US" altLang="en-US" dirty="0" smtClean="0"/>
              <a:t>Oops for 2 purposes: Work with class and object and security.</a:t>
            </a:r>
            <a:endParaRPr lang="en-US" altLang="en-US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Other OOP Features in Python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__</a:t>
            </a:r>
            <a:r>
              <a:rPr dirty="0" err="1"/>
              <a:t>init</a:t>
            </a:r>
            <a:r>
              <a:rPr dirty="0"/>
              <a:t>__() – Constructor</a:t>
            </a:r>
          </a:p>
          <a:p>
            <a:r>
              <a:rPr dirty="0"/>
              <a:t>self – Refers to current </a:t>
            </a:r>
            <a:r>
              <a:rPr dirty="0" smtClean="0"/>
              <a:t>object</a:t>
            </a:r>
            <a:r>
              <a:rPr lang="en-US" dirty="0" smtClean="0"/>
              <a:t> (instance) and is used to access variables that belongs to the class.</a:t>
            </a:r>
            <a:endParaRPr dirty="0"/>
          </a:p>
          <a:p>
            <a:r>
              <a:rPr dirty="0"/>
              <a:t>super() – Call parent methods</a:t>
            </a:r>
          </a:p>
          <a:p>
            <a:r>
              <a:rPr dirty="0"/>
              <a:t>Types: Single, Multiple, Multilevel, Hierarchical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574963"/>
            <a:ext cx="8229600" cy="4525963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2400" dirty="0"/>
              <a:t>class employee:</a:t>
            </a:r>
          </a:p>
          <a:p>
            <a:pPr marL="0" indent="0">
              <a:buNone/>
            </a:pPr>
            <a:r>
              <a:rPr lang="en-US" sz="2400" dirty="0"/>
              <a:t>    </a:t>
            </a:r>
            <a:r>
              <a:rPr lang="en-US" sz="2400" dirty="0" err="1"/>
              <a:t>def</a:t>
            </a:r>
            <a:r>
              <a:rPr lang="en-US" sz="2400" dirty="0"/>
              <a:t> </a:t>
            </a:r>
            <a:r>
              <a:rPr lang="en-US" sz="2400" dirty="0" err="1"/>
              <a:t>data_put</a:t>
            </a:r>
            <a:r>
              <a:rPr lang="en-US" sz="2400" dirty="0"/>
              <a:t>(self):</a:t>
            </a:r>
          </a:p>
          <a:p>
            <a:pPr marL="0" indent="0">
              <a:buNone/>
            </a:pPr>
            <a:r>
              <a:rPr lang="en-US" sz="2400" dirty="0"/>
              <a:t>        self.id = </a:t>
            </a:r>
            <a:r>
              <a:rPr lang="en-US" sz="2400" dirty="0" err="1"/>
              <a:t>int</a:t>
            </a:r>
            <a:r>
              <a:rPr lang="en-US" sz="2400" dirty="0"/>
              <a:t>(input("Enter the employee id: "))</a:t>
            </a:r>
          </a:p>
          <a:p>
            <a:pPr marL="0" indent="0">
              <a:buNone/>
            </a:pPr>
            <a:r>
              <a:rPr lang="en-US" sz="2400" dirty="0"/>
              <a:t>        self.name = input("Enter the employee name: ")</a:t>
            </a:r>
          </a:p>
          <a:p>
            <a:pPr marL="0" indent="0">
              <a:buNone/>
            </a:pPr>
            <a:r>
              <a:rPr lang="en-US" sz="2400" dirty="0"/>
              <a:t>        </a:t>
            </a:r>
            <a:r>
              <a:rPr lang="en-US" sz="2400" dirty="0" err="1"/>
              <a:t>self.salary</a:t>
            </a:r>
            <a:r>
              <a:rPr lang="en-US" sz="2400" dirty="0"/>
              <a:t> = float(input("Enter the salary: "))</a:t>
            </a:r>
          </a:p>
          <a:p>
            <a:pPr marL="0" indent="0">
              <a:buNone/>
            </a:pPr>
            <a:r>
              <a:rPr lang="en-US" sz="2400" dirty="0"/>
              <a:t>    </a:t>
            </a:r>
            <a:r>
              <a:rPr lang="en-US" sz="2400" dirty="0" err="1"/>
              <a:t>def</a:t>
            </a:r>
            <a:r>
              <a:rPr lang="en-US" sz="2400" dirty="0"/>
              <a:t>  display(self):</a:t>
            </a:r>
          </a:p>
          <a:p>
            <a:pPr marL="0" indent="0">
              <a:buNone/>
            </a:pPr>
            <a:r>
              <a:rPr lang="en-US" sz="2400" dirty="0"/>
              <a:t>        print("Employee id is:", self.id)</a:t>
            </a:r>
          </a:p>
          <a:p>
            <a:pPr marL="0" indent="0">
              <a:buNone/>
            </a:pPr>
            <a:r>
              <a:rPr lang="en-US" sz="2400" dirty="0"/>
              <a:t>        print("Employee Name is:", self.name)</a:t>
            </a:r>
          </a:p>
          <a:p>
            <a:pPr marL="0" indent="0">
              <a:buNone/>
            </a:pPr>
            <a:r>
              <a:rPr lang="en-US" sz="2400" dirty="0"/>
              <a:t>        print("Employee Salary is:", </a:t>
            </a:r>
            <a:r>
              <a:rPr lang="en-US" sz="2400" dirty="0" err="1"/>
              <a:t>self.salary</a:t>
            </a:r>
            <a:r>
              <a:rPr lang="en-US" sz="2400" dirty="0"/>
              <a:t>)</a:t>
            </a:r>
          </a:p>
          <a:p>
            <a:pPr marL="0" indent="0">
              <a:buNone/>
            </a:pPr>
            <a:r>
              <a:rPr lang="en-US" sz="2400" dirty="0"/>
              <a:t>a = employee()</a:t>
            </a:r>
          </a:p>
          <a:p>
            <a:pPr marL="0" indent="0">
              <a:buNone/>
            </a:pPr>
            <a:r>
              <a:rPr lang="en-US" sz="2400" dirty="0" err="1"/>
              <a:t>a.data_put</a:t>
            </a:r>
            <a:r>
              <a:rPr lang="en-US" sz="2400" dirty="0"/>
              <a:t>()</a:t>
            </a:r>
          </a:p>
          <a:p>
            <a:pPr marL="0" indent="0">
              <a:buNone/>
            </a:pPr>
            <a:r>
              <a:rPr lang="en-US" sz="2400" dirty="0" err="1"/>
              <a:t>a.display</a:t>
            </a:r>
            <a:r>
              <a:rPr lang="en-US" sz="2400" dirty="0"/>
              <a:t>()</a:t>
            </a:r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207090560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4 Pillars of OOPS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Encapsulation – Hides data using classes/objects</a:t>
            </a:r>
          </a:p>
          <a:p>
            <a:r>
              <a:t>Abstraction – Shows only essential features</a:t>
            </a:r>
          </a:p>
          <a:p>
            <a:r>
              <a:t>Inheritance – Reuse code from another class</a:t>
            </a:r>
          </a:p>
          <a:p>
            <a:r>
              <a:t>Polymorphism – Same method, different behaviors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Class and Object in Python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dirty="0"/>
              <a:t>class Car:</a:t>
            </a:r>
          </a:p>
          <a:p>
            <a:pPr marL="0" indent="0">
              <a:buNone/>
            </a:pPr>
            <a:r>
              <a:rPr dirty="0"/>
              <a:t>    </a:t>
            </a:r>
            <a:r>
              <a:rPr dirty="0" err="1"/>
              <a:t>def</a:t>
            </a:r>
            <a:r>
              <a:rPr dirty="0"/>
              <a:t> __</a:t>
            </a:r>
            <a:r>
              <a:rPr dirty="0" err="1"/>
              <a:t>init</a:t>
            </a:r>
            <a:r>
              <a:rPr dirty="0"/>
              <a:t>__(self, brand):</a:t>
            </a:r>
          </a:p>
          <a:p>
            <a:pPr marL="0" indent="0">
              <a:buNone/>
            </a:pPr>
            <a:r>
              <a:rPr dirty="0"/>
              <a:t>        </a:t>
            </a:r>
            <a:r>
              <a:rPr dirty="0" err="1"/>
              <a:t>self.brand</a:t>
            </a:r>
            <a:r>
              <a:rPr dirty="0"/>
              <a:t> = brand</a:t>
            </a:r>
          </a:p>
          <a:p>
            <a:pPr marL="0" indent="0">
              <a:buNone/>
            </a:pPr>
            <a:r>
              <a:rPr dirty="0"/>
              <a:t>    </a:t>
            </a:r>
            <a:r>
              <a:rPr dirty="0" err="1"/>
              <a:t>def</a:t>
            </a:r>
            <a:r>
              <a:rPr dirty="0"/>
              <a:t> drive(self):</a:t>
            </a:r>
          </a:p>
          <a:p>
            <a:pPr marL="0" indent="0">
              <a:buNone/>
            </a:pPr>
            <a:r>
              <a:rPr dirty="0"/>
              <a:t>        print(</a:t>
            </a:r>
            <a:r>
              <a:rPr dirty="0" err="1"/>
              <a:t>f"Driving</a:t>
            </a:r>
            <a:r>
              <a:rPr dirty="0"/>
              <a:t> {</a:t>
            </a:r>
            <a:r>
              <a:rPr dirty="0" err="1"/>
              <a:t>self.brand</a:t>
            </a:r>
            <a:r>
              <a:rPr dirty="0"/>
              <a:t>}")</a:t>
            </a:r>
          </a:p>
          <a:p>
            <a:pPr marL="0" indent="0">
              <a:buNone/>
            </a:pPr>
            <a:endParaRPr dirty="0"/>
          </a:p>
          <a:p>
            <a:pPr marL="0" indent="0">
              <a:buNone/>
            </a:pPr>
            <a:r>
              <a:rPr dirty="0"/>
              <a:t>c = Car("Honda")</a:t>
            </a:r>
          </a:p>
          <a:p>
            <a:pPr marL="0" indent="0">
              <a:buNone/>
            </a:pPr>
            <a:r>
              <a:rPr dirty="0" err="1"/>
              <a:t>c.drive</a:t>
            </a:r>
            <a:r>
              <a:rPr dirty="0"/>
              <a:t>()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Encapsulation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t>Encapsulation is the practice of hiding internal object details.</a:t>
            </a:r>
          </a:p>
          <a:p>
            <a:endParaRPr/>
          </a:p>
          <a:p>
            <a:r>
              <a:t>Example:</a:t>
            </a:r>
          </a:p>
          <a:p>
            <a:r>
              <a:t>class Bank:</a:t>
            </a:r>
          </a:p>
          <a:p>
            <a:r>
              <a:t>    def __init__(self):</a:t>
            </a:r>
          </a:p>
          <a:p>
            <a:r>
              <a:t>        self.__balance = 1000</a:t>
            </a:r>
          </a:p>
          <a:p>
            <a:endParaRPr/>
          </a:p>
          <a:p>
            <a:r>
              <a:t>Use getter/setter methods to access data securely.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Inheritance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t>Inheritance allows a class to use features of another class.</a:t>
            </a:r>
          </a:p>
          <a:p>
            <a:endParaRPr/>
          </a:p>
          <a:p>
            <a:r>
              <a:t>Example:</a:t>
            </a:r>
          </a:p>
          <a:p>
            <a:r>
              <a:t>class Animal:</a:t>
            </a:r>
          </a:p>
          <a:p>
            <a:r>
              <a:t>    def speak(self): print("Animal speaks")</a:t>
            </a:r>
          </a:p>
          <a:p>
            <a:endParaRPr/>
          </a:p>
          <a:p>
            <a:r>
              <a:t>class Dog(Animal):</a:t>
            </a:r>
          </a:p>
          <a:p>
            <a:r>
              <a:t>    def speak(self): print("Dog barks")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Polymorphism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Polymorphism means 'many forms'.</a:t>
            </a:r>
          </a:p>
          <a:p>
            <a:r>
              <a:t>Same method name behaves differently in different classes.</a:t>
            </a:r>
          </a:p>
          <a:p>
            <a:endParaRPr/>
          </a:p>
          <a:p>
            <a:r>
              <a:t>Example:</a:t>
            </a:r>
          </a:p>
          <a:p>
            <a:r>
              <a:t>class Bird: def fly(self): print("Flying")</a:t>
            </a:r>
          </a:p>
          <a:p>
            <a:r>
              <a:t>class Penguin(Bird): def fly(self): print("Can't fly")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Abstraction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t>Abstraction hides complex implementation from user.</a:t>
            </a:r>
          </a:p>
          <a:p>
            <a:r>
              <a:t>Implemented using Abstract Base Classes (ABC):</a:t>
            </a:r>
          </a:p>
          <a:p>
            <a:endParaRPr/>
          </a:p>
          <a:p>
            <a:r>
              <a:t>from abc import ABC, abstractmethod</a:t>
            </a:r>
          </a:p>
          <a:p>
            <a:r>
              <a:t>class Shape(ABC):</a:t>
            </a:r>
          </a:p>
          <a:p>
            <a:r>
              <a:t>    @abstractmethod</a:t>
            </a:r>
          </a:p>
          <a:p>
            <a:r>
              <a:t>    def area(self): pass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OOP makes code modular, scalable, and reusable.</a:t>
            </a:r>
          </a:p>
          <a:p>
            <a:r>
              <a:t>Python simplifies OOP with readable syntax.</a:t>
            </a:r>
          </a:p>
          <a:p>
            <a:r>
              <a:t>Master classes and objects to excel in Python!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Practice Time!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dirty="0"/>
              <a:t>1. Create a class Employee with name, salary, and method </a:t>
            </a:r>
            <a:r>
              <a:rPr dirty="0" err="1"/>
              <a:t>display_info</a:t>
            </a:r>
            <a:r>
              <a:rPr dirty="0"/>
              <a:t>.</a:t>
            </a:r>
          </a:p>
          <a:p>
            <a:pPr marL="0" indent="0">
              <a:buNone/>
            </a:pPr>
            <a:r>
              <a:rPr dirty="0"/>
              <a:t>2. Create a parent class Vehicle and child class Bike.</a:t>
            </a:r>
          </a:p>
          <a:p>
            <a:pPr marL="0" indent="0">
              <a:buNone/>
            </a:pPr>
            <a:r>
              <a:rPr dirty="0"/>
              <a:t>3. Show polymorphism with an Animal class and subclasses.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32363" y="110836"/>
            <a:ext cx="3879273" cy="568036"/>
          </a:xfrm>
        </p:spPr>
        <p:txBody>
          <a:bodyPr>
            <a:normAutofit fontScale="90000"/>
          </a:bodyPr>
          <a:lstStyle/>
          <a:p>
            <a:r>
              <a:rPr lang="en-US" dirty="0" smtClean="0">
                <a:solidFill>
                  <a:srgbClr val="9900CC"/>
                </a:solidFill>
                <a:latin typeface="Algerian" panose="04020705040A02060702" pitchFamily="82" charset="0"/>
              </a:rPr>
              <a:t>QUICK QUIZ</a:t>
            </a:r>
            <a:endParaRPr lang="en-IN" dirty="0">
              <a:solidFill>
                <a:srgbClr val="9900CC"/>
              </a:solidFill>
              <a:latin typeface="Algerian" panose="04020705040A02060702" pitchFamily="82" charset="0"/>
            </a:endParaRPr>
          </a:p>
        </p:txBody>
      </p:sp>
      <p:sp>
        <p:nvSpPr>
          <p:cNvPr id="4" name="Rectangle 1"/>
          <p:cNvSpPr>
            <a:spLocks noGrp="1" noChangeArrowheads="1"/>
          </p:cNvSpPr>
          <p:nvPr>
            <p:ph idx="1"/>
          </p:nvPr>
        </p:nvSpPr>
        <p:spPr bwMode="auto">
          <a:xfrm>
            <a:off x="166253" y="1439301"/>
            <a:ext cx="4184074" cy="15696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6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1. What is the purpose of </a:t>
            </a:r>
            <a:r>
              <a:rPr kumimoji="0" lang="en-US" altLang="en-US" sz="16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__</a:t>
            </a:r>
            <a:r>
              <a:rPr kumimoji="0" lang="en-US" altLang="en-US" sz="1600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init</a:t>
            </a:r>
            <a:r>
              <a:rPr kumimoji="0" lang="en-US" altLang="en-US" sz="16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__()</a:t>
            </a:r>
            <a:r>
              <a:rPr kumimoji="0" lang="en-US" altLang="en-US" sz="16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 method in Python?</a:t>
            </a:r>
            <a:endParaRPr kumimoji="0" lang="en-US" altLang="en-US" sz="160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A. It deletes an object</a:t>
            </a:r>
            <a:br>
              <a:rPr kumimoji="0" lang="en-US" alt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B. It creates a new module</a:t>
            </a:r>
            <a:br>
              <a:rPr kumimoji="0" lang="en-US" alt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C. It initializes a newly created object</a:t>
            </a:r>
            <a:br>
              <a:rPr kumimoji="0" lang="en-US" alt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D. It checks memory leaks</a:t>
            </a:r>
          </a:p>
        </p:txBody>
      </p:sp>
      <p:sp>
        <p:nvSpPr>
          <p:cNvPr id="5" name="Rectangle 4"/>
          <p:cNvSpPr/>
          <p:nvPr/>
        </p:nvSpPr>
        <p:spPr>
          <a:xfrm>
            <a:off x="166253" y="3052657"/>
            <a:ext cx="189436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b="1" dirty="0">
                <a:solidFill>
                  <a:srgbClr val="00B050"/>
                </a:solidFill>
              </a:rPr>
              <a:t>Correct Answer</a:t>
            </a:r>
            <a:r>
              <a:rPr lang="en-IN" dirty="0">
                <a:solidFill>
                  <a:srgbClr val="00B050"/>
                </a:solidFill>
              </a:rPr>
              <a:t>: C</a:t>
            </a:r>
          </a:p>
        </p:txBody>
      </p:sp>
      <p:sp>
        <p:nvSpPr>
          <p:cNvPr id="6" name="Rectangle 5"/>
          <p:cNvSpPr/>
          <p:nvPr/>
        </p:nvSpPr>
        <p:spPr>
          <a:xfrm>
            <a:off x="4348723" y="1443299"/>
            <a:ext cx="4351932" cy="17543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/>
              <a:t>2. Which of the following is not a pillar of OOP?</a:t>
            </a:r>
          </a:p>
          <a:p>
            <a:r>
              <a:rPr lang="en-US" dirty="0"/>
              <a:t>A. Inheritance</a:t>
            </a:r>
            <a:br>
              <a:rPr lang="en-US" dirty="0"/>
            </a:br>
            <a:r>
              <a:rPr lang="en-US" dirty="0"/>
              <a:t>B. Compilation</a:t>
            </a:r>
            <a:br>
              <a:rPr lang="en-US" dirty="0"/>
            </a:br>
            <a:r>
              <a:rPr lang="en-US" dirty="0"/>
              <a:t>C. Encapsulation</a:t>
            </a:r>
            <a:br>
              <a:rPr lang="en-US" dirty="0"/>
            </a:br>
            <a:r>
              <a:rPr lang="en-US" dirty="0"/>
              <a:t>D. Abstraction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4347120" y="3144991"/>
            <a:ext cx="189596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b="1" dirty="0">
                <a:solidFill>
                  <a:srgbClr val="00B050"/>
                </a:solidFill>
              </a:rPr>
              <a:t>Correct Answer</a:t>
            </a:r>
            <a:r>
              <a:rPr lang="en-IN" dirty="0">
                <a:solidFill>
                  <a:srgbClr val="00B050"/>
                </a:solidFill>
              </a:rPr>
              <a:t>: B</a:t>
            </a:r>
          </a:p>
        </p:txBody>
      </p:sp>
      <p:sp>
        <p:nvSpPr>
          <p:cNvPr id="8" name="Rectangle 7"/>
          <p:cNvSpPr/>
          <p:nvPr/>
        </p:nvSpPr>
        <p:spPr>
          <a:xfrm>
            <a:off x="166253" y="3656837"/>
            <a:ext cx="3657600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 smtClean="0"/>
              <a:t>3. What is ‘self’ in Python classes?</a:t>
            </a:r>
          </a:p>
          <a:p>
            <a:r>
              <a:rPr lang="en-US" dirty="0" smtClean="0"/>
              <a:t>A. A keyword for inheritance</a:t>
            </a:r>
            <a:br>
              <a:rPr lang="en-US" dirty="0" smtClean="0"/>
            </a:br>
            <a:r>
              <a:rPr lang="en-US" dirty="0" smtClean="0"/>
              <a:t>B. Refers to the instance of the class</a:t>
            </a:r>
            <a:br>
              <a:rPr lang="en-US" dirty="0" smtClean="0"/>
            </a:br>
            <a:r>
              <a:rPr lang="en-US" dirty="0" smtClean="0"/>
              <a:t>C. A built-in function</a:t>
            </a:r>
            <a:br>
              <a:rPr lang="en-US" dirty="0" smtClean="0"/>
            </a:br>
            <a:r>
              <a:rPr lang="en-US" dirty="0" smtClean="0"/>
              <a:t>D. None of the above</a:t>
            </a:r>
            <a:endParaRPr lang="en-US" dirty="0"/>
          </a:p>
        </p:txBody>
      </p:sp>
      <p:sp>
        <p:nvSpPr>
          <p:cNvPr id="9" name="Rectangle 8"/>
          <p:cNvSpPr/>
          <p:nvPr/>
        </p:nvSpPr>
        <p:spPr>
          <a:xfrm>
            <a:off x="166253" y="5234529"/>
            <a:ext cx="189596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b="1" dirty="0">
                <a:solidFill>
                  <a:srgbClr val="00B050"/>
                </a:solidFill>
              </a:rPr>
              <a:t>Correct Answer</a:t>
            </a:r>
            <a:r>
              <a:rPr lang="en-IN" dirty="0">
                <a:solidFill>
                  <a:srgbClr val="00B050"/>
                </a:solidFill>
              </a:rPr>
              <a:t>: B</a:t>
            </a:r>
          </a:p>
        </p:txBody>
      </p:sp>
      <p:sp>
        <p:nvSpPr>
          <p:cNvPr id="14" name="Rectangle 6"/>
          <p:cNvSpPr>
            <a:spLocks noChangeArrowheads="1"/>
          </p:cNvSpPr>
          <p:nvPr/>
        </p:nvSpPr>
        <p:spPr bwMode="auto">
          <a:xfrm>
            <a:off x="4468091" y="3514323"/>
            <a:ext cx="4087090" cy="15696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6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5. Which access modifier makes a variable private in Python?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A. </a:t>
            </a:r>
            <a:r>
              <a:rPr kumimoji="0" lang="en-US" alt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@private</a:t>
            </a:r>
            <a:r>
              <a:rPr kumimoji="0" lang="en-US" alt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/>
            </a:r>
            <a:br>
              <a:rPr kumimoji="0" lang="en-US" alt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</a:br>
            <a:r>
              <a:rPr kumimoji="0" lang="en-US" alt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B. </a:t>
            </a:r>
            <a:r>
              <a:rPr kumimoji="0" lang="en-US" alt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private</a:t>
            </a:r>
            <a:r>
              <a:rPr kumimoji="0" lang="en-US" alt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/>
            </a:r>
            <a:br>
              <a:rPr kumimoji="0" lang="en-US" alt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</a:br>
            <a:r>
              <a:rPr kumimoji="0" lang="en-US" alt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C. </a:t>
            </a:r>
            <a:r>
              <a:rPr kumimoji="0" lang="en-US" alt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__</a:t>
            </a:r>
            <a:r>
              <a:rPr kumimoji="0" lang="en-US" alt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 (double underscore prefix)</a:t>
            </a:r>
            <a:br>
              <a:rPr kumimoji="0" lang="en-US" alt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</a:br>
            <a:r>
              <a:rPr kumimoji="0" lang="en-US" alt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D. </a:t>
            </a:r>
            <a:r>
              <a:rPr kumimoji="0" lang="en-US" alt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_</a:t>
            </a:r>
            <a:r>
              <a:rPr kumimoji="0" lang="en-US" alt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 (single underscore)</a:t>
            </a:r>
            <a:endParaRPr kumimoji="0" lang="en-US" altLang="en-US" sz="16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4350326" y="5234529"/>
            <a:ext cx="189436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b="1" dirty="0">
                <a:solidFill>
                  <a:srgbClr val="00B050"/>
                </a:solidFill>
              </a:rPr>
              <a:t>Correct Answer</a:t>
            </a:r>
            <a:r>
              <a:rPr lang="en-IN" dirty="0">
                <a:solidFill>
                  <a:srgbClr val="00B050"/>
                </a:solidFill>
              </a:rPr>
              <a:t>: </a:t>
            </a:r>
            <a:r>
              <a:rPr lang="en-IN" dirty="0" smtClean="0">
                <a:solidFill>
                  <a:srgbClr val="00B050"/>
                </a:solidFill>
              </a:rPr>
              <a:t>C</a:t>
            </a:r>
            <a:endParaRPr lang="en-IN" dirty="0">
              <a:solidFill>
                <a:srgbClr val="00B05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638596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7" dur="2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7" dur="2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39" dur="2000"/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  <p:bldP spid="7" grpId="0"/>
      <p:bldP spid="8" grpId="0"/>
      <p:bldP spid="9" grpId="0"/>
      <p:bldP spid="14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32363" y="394854"/>
            <a:ext cx="3879273" cy="568036"/>
          </a:xfrm>
        </p:spPr>
        <p:txBody>
          <a:bodyPr>
            <a:normAutofit fontScale="90000"/>
          </a:bodyPr>
          <a:lstStyle/>
          <a:p>
            <a:r>
              <a:rPr lang="en-US" dirty="0" smtClean="0">
                <a:solidFill>
                  <a:srgbClr val="9900CC"/>
                </a:solidFill>
                <a:latin typeface="Algerian" panose="04020705040A02060702" pitchFamily="82" charset="0"/>
              </a:rPr>
              <a:t>QUICK QUIZ</a:t>
            </a:r>
            <a:endParaRPr lang="en-IN" dirty="0">
              <a:solidFill>
                <a:srgbClr val="9900CC"/>
              </a:solidFill>
              <a:latin typeface="Algerian" panose="04020705040A02060702" pitchFamily="82" charset="0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1335611" y="1326738"/>
            <a:ext cx="6802583" cy="224676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b="1" dirty="0"/>
              <a:t>6. What does polymorphism allow in Object-Oriented Programming?</a:t>
            </a:r>
          </a:p>
          <a:p>
            <a:r>
              <a:rPr lang="en-US" sz="2000" dirty="0"/>
              <a:t>A. Multiple classes to inherit from one parent class</a:t>
            </a:r>
            <a:br>
              <a:rPr lang="en-US" sz="2000" dirty="0"/>
            </a:br>
            <a:r>
              <a:rPr lang="en-US" sz="2000" dirty="0"/>
              <a:t>B. The same function name to behave differently based on the object</a:t>
            </a:r>
            <a:br>
              <a:rPr lang="en-US" sz="2000" dirty="0"/>
            </a:br>
            <a:r>
              <a:rPr lang="en-US" sz="2000" dirty="0"/>
              <a:t>C. Data to be stored in private variables</a:t>
            </a:r>
            <a:br>
              <a:rPr lang="en-US" sz="2000" dirty="0"/>
            </a:br>
            <a:r>
              <a:rPr lang="en-US" sz="2000" dirty="0"/>
              <a:t>D. Objects to be deleted automatically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335611" y="3737300"/>
            <a:ext cx="2097305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sz="2000" b="1" dirty="0">
                <a:solidFill>
                  <a:srgbClr val="00B050"/>
                </a:solidFill>
              </a:rPr>
              <a:t>Correct Answer</a:t>
            </a:r>
            <a:r>
              <a:rPr lang="en-IN" sz="2000" dirty="0">
                <a:solidFill>
                  <a:srgbClr val="00B050"/>
                </a:solidFill>
              </a:rPr>
              <a:t>: </a:t>
            </a:r>
            <a:r>
              <a:rPr lang="en-IN" sz="2000" b="1" dirty="0">
                <a:solidFill>
                  <a:srgbClr val="00B050"/>
                </a:solidFill>
              </a:rPr>
              <a:t>B</a:t>
            </a:r>
            <a:endParaRPr lang="en-IN" sz="2000" dirty="0">
              <a:solidFill>
                <a:srgbClr val="00B050"/>
              </a:solidFill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498764" y="4301203"/>
            <a:ext cx="838200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/>
              <a:t>Python wasn’t named after the snake — it was named after a British comedy group!</a:t>
            </a:r>
            <a:endParaRPr lang="en-IN" b="1" dirty="0"/>
          </a:p>
        </p:txBody>
      </p:sp>
      <p:sp>
        <p:nvSpPr>
          <p:cNvPr id="16" name="Rectangle 15"/>
          <p:cNvSpPr/>
          <p:nvPr/>
        </p:nvSpPr>
        <p:spPr>
          <a:xfrm>
            <a:off x="912893" y="4774618"/>
            <a:ext cx="7318211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/>
              <a:t>Python’s creator, </a:t>
            </a:r>
            <a:r>
              <a:rPr lang="en-US" b="1" dirty="0"/>
              <a:t>Guido van Rossum</a:t>
            </a:r>
            <a:r>
              <a:rPr lang="en-US" dirty="0"/>
              <a:t>, was a big fan of the British comedy series </a:t>
            </a:r>
            <a:r>
              <a:rPr lang="en-US" b="1" dirty="0"/>
              <a:t>"Monty Python’s Flying Circus"</a:t>
            </a:r>
            <a:r>
              <a:rPr lang="en-US" dirty="0"/>
              <a:t>. When he started writing the language in the late 1980s, he wanted a name that was short, unique, and a bit mysterious — so he chose </a:t>
            </a:r>
            <a:r>
              <a:rPr lang="en-US" b="1" dirty="0"/>
              <a:t>"Python"</a:t>
            </a:r>
            <a:r>
              <a:rPr lang="en-US" dirty="0"/>
              <a:t> as a tribute to the comedy troupe.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702947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4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25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26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7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28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9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30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1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32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12" grpId="0"/>
      <p:bldP spid="16" grpId="0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1952</TotalTime>
  <Words>719</Words>
  <Application>Microsoft Office PowerPoint</Application>
  <PresentationFormat>On-screen Show (4:3)</PresentationFormat>
  <Paragraphs>104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0" baseType="lpstr">
      <vt:lpstr>Algerian</vt:lpstr>
      <vt:lpstr>Arial</vt:lpstr>
      <vt:lpstr>Arial Unicode MS</vt:lpstr>
      <vt:lpstr>Calibri</vt:lpstr>
      <vt:lpstr>Office Theme</vt:lpstr>
      <vt:lpstr>Object-Oriented Programming (OOPS) in Python</vt:lpstr>
      <vt:lpstr>What is OOP?</vt:lpstr>
      <vt:lpstr>PowerPoint Presentation</vt:lpstr>
      <vt:lpstr>Other OOP Features in Python</vt:lpstr>
      <vt:lpstr>PowerPoint Presentation</vt:lpstr>
      <vt:lpstr>4 Pillars of OOPS</vt:lpstr>
      <vt:lpstr>Class and Object in Python</vt:lpstr>
      <vt:lpstr>Encapsulation</vt:lpstr>
      <vt:lpstr>Inheritance</vt:lpstr>
      <vt:lpstr>Polymorphism</vt:lpstr>
      <vt:lpstr>Abstraction</vt:lpstr>
      <vt:lpstr>Summary</vt:lpstr>
      <vt:lpstr>Practice Time!</vt:lpstr>
      <vt:lpstr>QUICK QUIZ</vt:lpstr>
      <vt:lpstr>QUICK QUIZ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Object-Oriented Programming (OOPS) in Python</dc:title>
  <dc:creator/>
  <dc:description>generated using python-pptx</dc:description>
  <cp:lastModifiedBy>LENOVO</cp:lastModifiedBy>
  <cp:revision>15</cp:revision>
  <dcterms:created xsi:type="dcterms:W3CDTF">2013-01-27T09:14:00Z</dcterms:created>
  <dcterms:modified xsi:type="dcterms:W3CDTF">2025-04-25T13:37:07Z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555069B5E9B7462B84B2407E14BD6661_12</vt:lpwstr>
  </property>
  <property fmtid="{D5CDD505-2E9C-101B-9397-08002B2CF9AE}" pid="3" name="KSOProductBuildVer">
    <vt:lpwstr>1033-12.2.0.20782</vt:lpwstr>
  </property>
</Properties>
</file>