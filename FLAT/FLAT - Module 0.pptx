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7" r:id="rId5"/>
    <p:sldId id="258" r:id="rId6"/>
    <p:sldId id="268" r:id="rId7"/>
    <p:sldId id="269" r:id="rId8"/>
    <p:sldId id="270" r:id="rId9"/>
    <p:sldId id="27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57885"/>
            <a:ext cx="9144000" cy="2571115"/>
          </a:xfrm>
        </p:spPr>
        <p:txBody>
          <a:bodyPr anchor="ctr" anchorCtr="0"/>
          <a:lstStyle/>
          <a:p>
            <a:r>
              <a:rPr lang="en-IN" altLang="en-US" sz="6000" b="1" dirty="0"/>
              <a:t>Formal Language</a:t>
            </a:r>
            <a:br>
              <a:rPr lang="en-IN" altLang="en-US" sz="6000" b="1" dirty="0"/>
            </a:br>
            <a:r>
              <a:rPr lang="en-IN" altLang="en-US" sz="6000" b="1" dirty="0"/>
              <a:t>and</a:t>
            </a:r>
            <a:br>
              <a:rPr lang="en-IN" altLang="en-US" sz="6000" b="1" dirty="0"/>
            </a:br>
            <a:r>
              <a:rPr lang="en-IN" altLang="en-US" sz="6000" b="1" dirty="0"/>
              <a:t>Automata Theory</a:t>
            </a:r>
            <a:endParaRPr lang="en-IN" altLang="en-US" sz="6000" b="1" dirty="0"/>
          </a:p>
        </p:txBody>
      </p:sp>
      <p:sp>
        <p:nvSpPr>
          <p:cNvPr id="4" name="Text Box 3"/>
          <p:cNvSpPr txBox="1"/>
          <p:nvPr/>
        </p:nvSpPr>
        <p:spPr>
          <a:xfrm>
            <a:off x="4572000" y="436499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IN" altLang="en-US" sz="3200">
                <a:sym typeface="+mn-ea"/>
              </a:rPr>
              <a:t>b</a:t>
            </a:r>
            <a:r>
              <a:rPr lang="en-US" sz="3200">
                <a:sym typeface="+mn-ea"/>
              </a:rPr>
              <a:t>y</a:t>
            </a:r>
            <a:endParaRPr lang="en-US" sz="3200"/>
          </a:p>
          <a:p>
            <a:pPr algn="r"/>
            <a:r>
              <a:rPr lang="en-US" sz="3200">
                <a:sym typeface="+mn-ea"/>
              </a:rPr>
              <a:t>Meghna Saikia</a:t>
            </a:r>
            <a:endParaRPr lang="en-US" sz="32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57250"/>
          </a:xfrm>
        </p:spPr>
        <p:txBody>
          <a:bodyPr/>
          <a:p>
            <a:r>
              <a:rPr lang="en-US" b="1"/>
              <a:t>Recommended Text Books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1310"/>
            <a:ext cx="11236325" cy="4984115"/>
          </a:xfrm>
        </p:spPr>
        <p:txBody>
          <a:bodyPr/>
          <a:p>
            <a:pPr marL="0" indent="0">
              <a:buNone/>
            </a:pPr>
            <a:r>
              <a:rPr lang="en-IN" altLang="en-US"/>
              <a:t>“</a:t>
            </a:r>
            <a:r>
              <a:rPr lang="en-US" altLang="en-US"/>
              <a:t>Theory of Computer Science: Automata, Languages and Computation</a:t>
            </a:r>
            <a:r>
              <a:rPr lang="en-IN" altLang="en-US"/>
              <a:t>”</a:t>
            </a:r>
            <a:r>
              <a:rPr lang="en-US" altLang="en-US"/>
              <a:t> – K.L.P. Mishra and N. Chandrasekaran, PHI.</a:t>
            </a:r>
            <a:endParaRPr lang="en-US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“</a:t>
            </a:r>
            <a:r>
              <a:rPr lang="en-US" altLang="en-US"/>
              <a:t>Introduction to Languages and Theory of Computations</a:t>
            </a:r>
            <a:r>
              <a:rPr lang="en-IN" altLang="en-US"/>
              <a:t>”</a:t>
            </a:r>
            <a:r>
              <a:rPr lang="en-US" altLang="en-US"/>
              <a:t> – Martin J. C., TMH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Re</a:t>
            </a:r>
            <a:r>
              <a:rPr lang="en-IN" altLang="en-US" b="1"/>
              <a:t>ference </a:t>
            </a:r>
            <a:r>
              <a:rPr lang="en-US" b="1"/>
              <a:t>Books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1310"/>
            <a:ext cx="11236325" cy="4984115"/>
          </a:xfrm>
        </p:spPr>
        <p:txBody>
          <a:bodyPr/>
          <a:p>
            <a:pPr marL="0" indent="0">
              <a:buNone/>
            </a:pPr>
            <a:r>
              <a:rPr lang="en-IN" altLang="en-US"/>
              <a:t>“</a:t>
            </a:r>
            <a:r>
              <a:rPr lang="en-US" altLang="en-US"/>
              <a:t>Introduction to Automata Theory, Languages and</a:t>
            </a:r>
            <a:r>
              <a:rPr lang="en-IN" altLang="en-US"/>
              <a:t> </a:t>
            </a:r>
            <a:r>
              <a:rPr lang="en-US" altLang="en-US"/>
              <a:t>Computation</a:t>
            </a:r>
            <a:r>
              <a:rPr lang="en-IN" altLang="en-US"/>
              <a:t>”</a:t>
            </a:r>
            <a:r>
              <a:rPr lang="en-US" altLang="en-US"/>
              <a:t> – Hopcroft, Ullman, Pearson Education.</a:t>
            </a:r>
            <a:endParaRPr lang="en-US" altLang="en-US"/>
          </a:p>
          <a:p>
            <a:pPr marL="0" indent="0">
              <a:buNone/>
            </a:pPr>
            <a:endParaRPr lang="en-IN" altLang="en-US"/>
          </a:p>
          <a:p>
            <a:pPr marL="0" indent="0">
              <a:buNone/>
            </a:pPr>
            <a:r>
              <a:rPr lang="en-IN" altLang="en-US"/>
              <a:t>“</a:t>
            </a:r>
            <a:r>
              <a:rPr lang="en-US" altLang="en-US"/>
              <a:t>Elements of the Theory of Computation</a:t>
            </a:r>
            <a:r>
              <a:rPr lang="en-IN" altLang="en-US"/>
              <a:t>”</a:t>
            </a:r>
            <a:r>
              <a:rPr lang="en-US" altLang="en-US"/>
              <a:t> – Papadimitrou, C. and Lewis, C.L, PH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5005"/>
            <a:ext cx="10972800" cy="4048125"/>
          </a:xfrm>
        </p:spPr>
        <p:txBody>
          <a:bodyPr/>
          <a:p>
            <a:pPr marL="0" indent="0">
              <a:buNone/>
            </a:pPr>
            <a:r>
              <a:rPr lang="en-US" altLang="en-US" sz="3600" b="1"/>
              <a:t>MODULE 1:</a:t>
            </a:r>
            <a:endParaRPr lang="en-US" altLang="en-US" sz="3600" b="1"/>
          </a:p>
          <a:p>
            <a:pPr marL="0" indent="0">
              <a:buNone/>
            </a:pPr>
            <a:r>
              <a:rPr lang="en-IN" altLang="en-US" sz="3600" b="1"/>
              <a:t>Introduction and Finite Automata:</a:t>
            </a:r>
            <a:endParaRPr lang="en-US" altLang="en-US" sz="3600" b="1"/>
          </a:p>
          <a:p>
            <a:r>
              <a:rPr lang="en-US" altLang="en-US" sz="3150"/>
              <a:t>Introduction to Finite Automata</a:t>
            </a:r>
            <a:endParaRPr lang="en-US" altLang="en-US" sz="3150"/>
          </a:p>
          <a:p>
            <a:r>
              <a:rPr lang="en-US" altLang="en-US" sz="3145"/>
              <a:t>Central Concepts of Automata Theory</a:t>
            </a:r>
            <a:endParaRPr lang="en-US" altLang="en-US" sz="3145"/>
          </a:p>
          <a:p>
            <a:r>
              <a:rPr lang="en-US" altLang="en-US" sz="3145"/>
              <a:t>Deterministic Finite Automata (DFA)</a:t>
            </a:r>
            <a:endParaRPr lang="en-US" altLang="en-US" sz="3145"/>
          </a:p>
          <a:p>
            <a:r>
              <a:rPr lang="en-US" altLang="en-US" sz="3145"/>
              <a:t>Nondeterministic Finite Automata (NFA)</a:t>
            </a:r>
            <a:endParaRPr lang="en-US" altLang="en-US" sz="3145"/>
          </a:p>
          <a:p>
            <a:r>
              <a:rPr lang="en-US" altLang="en-US" sz="3145"/>
              <a:t>Finite Automata with Epsilon Transition</a:t>
            </a:r>
            <a:endParaRPr lang="en-US" altLang="en-US" sz="3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5005"/>
            <a:ext cx="10972800" cy="5563870"/>
          </a:xfrm>
        </p:spPr>
        <p:txBody>
          <a:bodyPr/>
          <a:p>
            <a:pPr marL="0" indent="0">
              <a:buNone/>
            </a:pPr>
            <a:r>
              <a:rPr lang="en-US" altLang="en-US" sz="3600" b="1"/>
              <a:t>MODULE </a:t>
            </a:r>
            <a:r>
              <a:rPr lang="en-IN" altLang="en-US" sz="3600" b="1"/>
              <a:t>2</a:t>
            </a:r>
            <a:r>
              <a:rPr lang="en-US" altLang="en-US" sz="3600" b="1"/>
              <a:t>:</a:t>
            </a:r>
            <a:endParaRPr lang="en-US" altLang="en-US" sz="3600" b="1"/>
          </a:p>
          <a:p>
            <a:pPr marL="0" indent="0">
              <a:buNone/>
            </a:pPr>
            <a:r>
              <a:rPr lang="en-US" altLang="en-US" sz="3600" b="1"/>
              <a:t>Regular Expressions and Languages</a:t>
            </a:r>
            <a:r>
              <a:rPr lang="en-IN" altLang="en-US" sz="3600" b="1"/>
              <a:t>:</a:t>
            </a:r>
            <a:endParaRPr lang="en-US" altLang="en-US" sz="3600" b="1"/>
          </a:p>
          <a:p>
            <a:r>
              <a:rPr lang="en-US" altLang="en-US"/>
              <a:t>Regular Expressions</a:t>
            </a:r>
            <a:endParaRPr lang="en-US" altLang="en-US"/>
          </a:p>
          <a:p>
            <a:r>
              <a:rPr lang="en-US" altLang="en-US"/>
              <a:t>Finite Automata and Regular Expression</a:t>
            </a:r>
            <a:r>
              <a:rPr lang="en-IN" altLang="en-US"/>
              <a:t>s</a:t>
            </a:r>
            <a:endParaRPr lang="en-IN" altLang="en-US"/>
          </a:p>
          <a:p>
            <a:r>
              <a:rPr lang="en-US" altLang="en-US"/>
              <a:t>Applications of Regular Expressions</a:t>
            </a:r>
            <a:endParaRPr lang="en-US" altLang="en-US"/>
          </a:p>
          <a:p>
            <a:r>
              <a:rPr lang="en-US" altLang="en-US"/>
              <a:t>Proving Languages Not to Be Regular</a:t>
            </a:r>
            <a:endParaRPr lang="en-US" altLang="en-US"/>
          </a:p>
          <a:p>
            <a:r>
              <a:rPr lang="en-US" altLang="en-US"/>
              <a:t>Closure Properties of Regular Languages</a:t>
            </a:r>
            <a:endParaRPr lang="en-US" altLang="en-US"/>
          </a:p>
          <a:p>
            <a:r>
              <a:rPr lang="en-US" altLang="en-US"/>
              <a:t>Equivalence and Minimization of Automata – Pumping Lemma</a:t>
            </a:r>
            <a:endParaRPr lang="en-US" altLang="en-US" sz="3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5005"/>
            <a:ext cx="10972800" cy="5563870"/>
          </a:xfrm>
        </p:spPr>
        <p:txBody>
          <a:bodyPr/>
          <a:p>
            <a:pPr marL="0" indent="0">
              <a:buNone/>
            </a:pPr>
            <a:r>
              <a:rPr lang="en-US" altLang="en-US" sz="3600" b="1"/>
              <a:t>MODULE </a:t>
            </a:r>
            <a:r>
              <a:rPr lang="en-IN" altLang="en-US" sz="3600" b="1"/>
              <a:t>3</a:t>
            </a:r>
            <a:r>
              <a:rPr lang="en-US" altLang="en-US" sz="3600" b="1"/>
              <a:t>:</a:t>
            </a:r>
            <a:endParaRPr lang="en-US" altLang="en-US" sz="3600" b="1"/>
          </a:p>
          <a:p>
            <a:pPr marL="0" indent="0">
              <a:buNone/>
            </a:pPr>
            <a:r>
              <a:rPr lang="en-US" altLang="en-US" sz="3600" b="1">
                <a:sym typeface="+mn-ea"/>
              </a:rPr>
              <a:t>Context Free Grammars and Languages:</a:t>
            </a:r>
            <a:endParaRPr lang="en-US" altLang="en-US" sz="3600" b="1">
              <a:sym typeface="+mn-ea"/>
            </a:endParaRPr>
          </a:p>
          <a:p>
            <a:r>
              <a:rPr lang="en-US" altLang="en-US" sz="3150"/>
              <a:t>Definition</a:t>
            </a:r>
            <a:endParaRPr lang="en-US" altLang="en-US" sz="3150"/>
          </a:p>
          <a:p>
            <a:r>
              <a:rPr lang="en-US" altLang="en-US" sz="3150"/>
              <a:t>Leftmost and rightmost grammars</a:t>
            </a:r>
            <a:endParaRPr lang="en-US" altLang="en-US" sz="3150"/>
          </a:p>
          <a:p>
            <a:r>
              <a:rPr lang="en-US" altLang="en-US" sz="3150"/>
              <a:t>Parse trees</a:t>
            </a:r>
            <a:endParaRPr lang="en-US" altLang="en-US" sz="3150"/>
          </a:p>
          <a:p>
            <a:r>
              <a:rPr lang="en-US" altLang="en-US" sz="3150"/>
              <a:t>Ambiguity: Ambiguous grammar</a:t>
            </a:r>
            <a:endParaRPr lang="en-US" altLang="en-US" sz="3150"/>
          </a:p>
          <a:p>
            <a:r>
              <a:rPr lang="en-US" altLang="en-US" sz="3150"/>
              <a:t>Removing ambiguity</a:t>
            </a:r>
            <a:endParaRPr lang="en-US" altLang="en-US" sz="3150"/>
          </a:p>
          <a:p>
            <a:r>
              <a:rPr lang="en-US" altLang="en-US" sz="3150"/>
              <a:t>Normal forms</a:t>
            </a:r>
            <a:endParaRPr lang="en-US" altLang="en-US" sz="3150"/>
          </a:p>
          <a:p>
            <a:r>
              <a:rPr lang="en-US" altLang="en-US" sz="3150"/>
              <a:t>Applications of context free grammars: Parsers</a:t>
            </a:r>
            <a:endParaRPr lang="en-US" altLang="en-US" sz="3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5005"/>
            <a:ext cx="10972800" cy="5563870"/>
          </a:xfrm>
        </p:spPr>
        <p:txBody>
          <a:bodyPr/>
          <a:p>
            <a:pPr marL="0" indent="0">
              <a:buNone/>
            </a:pPr>
            <a:r>
              <a:rPr lang="en-US" altLang="en-US" sz="3600" b="1"/>
              <a:t>MODULE </a:t>
            </a:r>
            <a:r>
              <a:rPr lang="en-IN" altLang="en-US" sz="3600" b="1"/>
              <a:t>4</a:t>
            </a:r>
            <a:r>
              <a:rPr lang="en-US" altLang="en-US" sz="3600" b="1"/>
              <a:t>:</a:t>
            </a:r>
            <a:endParaRPr lang="en-US" altLang="en-US" sz="3600" b="1"/>
          </a:p>
          <a:p>
            <a:pPr marL="0" indent="0">
              <a:buNone/>
            </a:pPr>
            <a:r>
              <a:rPr lang="en-IN" altLang="en-US" sz="3600" b="1">
                <a:sym typeface="+mn-ea"/>
              </a:rPr>
              <a:t>PDA and CFL</a:t>
            </a:r>
            <a:r>
              <a:rPr lang="en-US" altLang="en-US" sz="3600" b="1">
                <a:sym typeface="+mn-ea"/>
              </a:rPr>
              <a:t>:</a:t>
            </a:r>
            <a:endParaRPr lang="en-US" altLang="en-US" sz="3600" b="1">
              <a:sym typeface="+mn-ea"/>
            </a:endParaRPr>
          </a:p>
          <a:p>
            <a:r>
              <a:rPr lang="en-US" altLang="en-US" sz="3150"/>
              <a:t>Pushdown automata (PDA)</a:t>
            </a:r>
            <a:endParaRPr lang="en-US" altLang="en-US" sz="3150"/>
          </a:p>
          <a:p>
            <a:r>
              <a:rPr lang="en-IN" altLang="en-US" sz="3150"/>
              <a:t>C</a:t>
            </a:r>
            <a:r>
              <a:rPr lang="en-US" altLang="en-US" sz="3150"/>
              <a:t>ontext free languages (CFL)</a:t>
            </a:r>
            <a:endParaRPr lang="en-US" altLang="en-US" sz="3150"/>
          </a:p>
          <a:p>
            <a:r>
              <a:rPr lang="en-US" altLang="en-US" sz="3150"/>
              <a:t>Definition &amp; representation of pushdown automata,</a:t>
            </a:r>
            <a:endParaRPr lang="en-US" altLang="en-US" sz="3150"/>
          </a:p>
          <a:p>
            <a:r>
              <a:rPr lang="en-US" altLang="en-US" sz="3150"/>
              <a:t>Acceptance by PDA: By final state, By empty stack,</a:t>
            </a:r>
            <a:endParaRPr lang="en-US" altLang="en-US" sz="3150"/>
          </a:p>
          <a:p>
            <a:r>
              <a:rPr lang="en-US" altLang="en-US" sz="3150"/>
              <a:t>Deterministic PDA,</a:t>
            </a:r>
            <a:endParaRPr lang="en-US" altLang="en-US" sz="3150"/>
          </a:p>
          <a:p>
            <a:r>
              <a:rPr lang="en-US" altLang="en-US" sz="3150"/>
              <a:t>Equivalence of PDA and CFL,</a:t>
            </a:r>
            <a:endParaRPr lang="en-US" altLang="en-US" sz="3150"/>
          </a:p>
          <a:p>
            <a:r>
              <a:rPr lang="en-US" altLang="en-US" sz="3150"/>
              <a:t>Pumping lemma for CFL</a:t>
            </a:r>
            <a:endParaRPr lang="en-US" altLang="en-US" sz="3150"/>
          </a:p>
          <a:p>
            <a:r>
              <a:rPr lang="en-US" altLang="en-US" sz="3150"/>
              <a:t>Closure properties of CFL</a:t>
            </a:r>
            <a:endParaRPr lang="en-US" altLang="en-US" sz="3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5005"/>
            <a:ext cx="10972800" cy="5563870"/>
          </a:xfrm>
        </p:spPr>
        <p:txBody>
          <a:bodyPr/>
          <a:p>
            <a:pPr marL="0" indent="0">
              <a:buNone/>
            </a:pPr>
            <a:r>
              <a:rPr lang="en-US" altLang="en-US" sz="3600" b="1"/>
              <a:t>MODULE </a:t>
            </a:r>
            <a:r>
              <a:rPr lang="en-IN" altLang="en-US" sz="3600" b="1"/>
              <a:t>5</a:t>
            </a:r>
            <a:r>
              <a:rPr lang="en-US" altLang="en-US" sz="3600" b="1"/>
              <a:t>:</a:t>
            </a:r>
            <a:endParaRPr lang="en-US" altLang="en-US" sz="3600" b="1"/>
          </a:p>
          <a:p>
            <a:pPr marL="0" indent="0">
              <a:buNone/>
            </a:pPr>
            <a:r>
              <a:rPr lang="en-US" altLang="en-US" b="1"/>
              <a:t>Turing </a:t>
            </a:r>
            <a:r>
              <a:rPr lang="en-IN" altLang="en-US" b="1"/>
              <a:t>M</a:t>
            </a:r>
            <a:r>
              <a:rPr lang="en-US" altLang="en-US" b="1"/>
              <a:t>achines</a:t>
            </a:r>
            <a:r>
              <a:rPr lang="en-IN" altLang="en-US" b="1"/>
              <a:t>:</a:t>
            </a:r>
            <a:endParaRPr lang="en-US" altLang="en-US" b="1"/>
          </a:p>
          <a:p>
            <a:pPr marL="0" indent="0">
              <a:buNone/>
            </a:pPr>
            <a:r>
              <a:rPr lang="en-US" altLang="en-US" sz="3150"/>
              <a:t>Definition</a:t>
            </a:r>
            <a:endParaRPr lang="en-US" altLang="en-US" sz="3150"/>
          </a:p>
          <a:p>
            <a:pPr marL="0" indent="0">
              <a:buNone/>
            </a:pPr>
            <a:r>
              <a:rPr lang="en-US" altLang="en-US" sz="3150"/>
              <a:t>Language of a Turing machine</a:t>
            </a:r>
            <a:endParaRPr lang="en-US" altLang="en-US" sz="3150"/>
          </a:p>
          <a:p>
            <a:pPr marL="0" indent="0">
              <a:buNone/>
            </a:pPr>
            <a:r>
              <a:rPr lang="en-US" altLang="en-US" sz="3150"/>
              <a:t>Programming Turing machines</a:t>
            </a:r>
            <a:endParaRPr lang="en-US" altLang="en-US" sz="3150"/>
          </a:p>
          <a:p>
            <a:pPr marL="0" indent="0">
              <a:buNone/>
            </a:pPr>
            <a:r>
              <a:rPr lang="en-US" altLang="en-US" sz="3150"/>
              <a:t>The Church-Turing thesis</a:t>
            </a:r>
            <a:endParaRPr lang="en-US" altLang="en-US" sz="3150"/>
          </a:p>
          <a:p>
            <a:pPr marL="0" indent="0">
              <a:buNone/>
            </a:pPr>
            <a:r>
              <a:rPr lang="en-IN" altLang="en-US" sz="3150"/>
              <a:t>S</a:t>
            </a:r>
            <a:r>
              <a:rPr lang="en-US" altLang="en-US" sz="3150"/>
              <a:t>imple programming language</a:t>
            </a:r>
            <a:endParaRPr lang="en-US" altLang="en-US" sz="3150"/>
          </a:p>
          <a:p>
            <a:pPr marL="0" indent="0">
              <a:buNone/>
            </a:pPr>
            <a:r>
              <a:rPr lang="en-IN" altLang="en-US" sz="3150"/>
              <a:t>E</a:t>
            </a:r>
            <a:r>
              <a:rPr lang="en-US" altLang="en-US" sz="3150"/>
              <a:t>xtensions of the basic Turing machine</a:t>
            </a:r>
            <a:endParaRPr lang="en-US" altLang="en-US" sz="3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67635"/>
            <a:ext cx="9144000" cy="1523365"/>
          </a:xfrm>
        </p:spPr>
        <p:txBody>
          <a:bodyPr anchor="ctr" anchorCtr="0"/>
          <a:lstStyle/>
          <a:p>
            <a:r>
              <a:rPr lang="en-US" b="1" dirty="0"/>
              <a:t>THANK YOU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Presentation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</vt:lpstr>
      <vt:lpstr>Gear Drives</vt:lpstr>
      <vt:lpstr>Formal Language and Automata Theory</vt:lpstr>
      <vt:lpstr>Recommended Text Books</vt:lpstr>
      <vt:lpstr>Reference Books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Meghna Saikia</dc:creator>
  <cp:lastModifiedBy>Meg S</cp:lastModifiedBy>
  <cp:revision>13</cp:revision>
  <dcterms:created xsi:type="dcterms:W3CDTF">2025-07-23T00:59:00Z</dcterms:created>
  <dcterms:modified xsi:type="dcterms:W3CDTF">2026-01-28T07:12:45Z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