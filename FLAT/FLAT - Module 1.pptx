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72" r:id="rId5"/>
    <p:sldId id="280" r:id="rId6"/>
    <p:sldId id="273" r:id="rId7"/>
    <p:sldId id="281" r:id="rId8"/>
    <p:sldId id="279" r:id="rId9"/>
    <p:sldId id="274" r:id="rId10"/>
    <p:sldId id="275" r:id="rId11"/>
    <p:sldId id="282" r:id="rId12"/>
    <p:sldId id="283" r:id="rId13"/>
    <p:sldId id="284" r:id="rId14"/>
    <p:sldId id="285" r:id="rId15"/>
    <p:sldId id="276" r:id="rId16"/>
    <p:sldId id="277" r:id="rId17"/>
    <p:sldId id="278" r:id="rId18"/>
    <p:sldId id="292" r:id="rId19"/>
    <p:sldId id="288" r:id="rId20"/>
    <p:sldId id="289" r:id="rId21"/>
    <p:sldId id="290" r:id="rId22"/>
    <p:sldId id="293" r:id="rId23"/>
    <p:sldId id="294" r:id="rId24"/>
    <p:sldId id="295" r:id="rId25"/>
    <p:sldId id="2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57885"/>
            <a:ext cx="9144000" cy="2571115"/>
          </a:xfrm>
        </p:spPr>
        <p:txBody>
          <a:bodyPr anchor="ctr" anchorCtr="0"/>
          <a:lstStyle/>
          <a:p>
            <a:r>
              <a:rPr lang="en-IN" altLang="en-US" sz="6000" b="1" dirty="0"/>
              <a:t>Formal Language</a:t>
            </a:r>
            <a:br>
              <a:rPr lang="en-IN" altLang="en-US" sz="6000" b="1" dirty="0"/>
            </a:br>
            <a:r>
              <a:rPr lang="en-IN" altLang="en-US" sz="6000" b="1" dirty="0"/>
              <a:t>and</a:t>
            </a:r>
            <a:br>
              <a:rPr lang="en-IN" altLang="en-US" sz="6000" b="1" dirty="0"/>
            </a:br>
            <a:r>
              <a:rPr lang="en-IN" altLang="en-US" sz="6000" b="1" dirty="0"/>
              <a:t>Automata Theory</a:t>
            </a:r>
            <a:endParaRPr lang="en-IN" altLang="en-US" sz="6000" b="1" dirty="0"/>
          </a:p>
        </p:txBody>
      </p:sp>
      <p:sp>
        <p:nvSpPr>
          <p:cNvPr id="4" name="Text Box 3"/>
          <p:cNvSpPr txBox="1"/>
          <p:nvPr/>
        </p:nvSpPr>
        <p:spPr>
          <a:xfrm>
            <a:off x="4572000" y="4364990"/>
            <a:ext cx="6096000" cy="1076325"/>
          </a:xfrm>
          <a:prstGeom prst="rect">
            <a:avLst/>
          </a:prstGeom>
          <a:noFill/>
        </p:spPr>
        <p:txBody>
          <a:bodyPr wrap="square" rtlCol="0" anchor="t">
            <a:spAutoFit/>
          </a:bodyPr>
          <a:p>
            <a:pPr algn="r"/>
            <a:r>
              <a:rPr lang="en-IN" sz="3200">
                <a:sym typeface="+mn-ea"/>
              </a:rPr>
              <a:t>MODULE 1</a:t>
            </a:r>
            <a:endParaRPr lang="en-IN" sz="3200">
              <a:sym typeface="+mn-ea"/>
            </a:endParaRPr>
          </a:p>
          <a:p>
            <a:pPr algn="r"/>
            <a:r>
              <a:rPr lang="en-IN" sz="3200">
                <a:sym typeface="+mn-ea"/>
              </a:rPr>
              <a:t>by Meghna Saikia</a:t>
            </a:r>
            <a:endParaRPr lang="en-IN" sz="320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6800" y="929640"/>
            <a:ext cx="8756015" cy="3793490"/>
          </a:xfrm>
        </p:spPr>
        <p:txBody>
          <a:bodyPr/>
          <a:p>
            <a:pPr marL="0" indent="0">
              <a:buNone/>
            </a:pPr>
            <a:r>
              <a:rPr lang="en-IN" altLang="en-US" sz="3600" b="1"/>
              <a:t>CONTENTS:</a:t>
            </a:r>
            <a:endParaRPr lang="en-IN" altLang="en-US" sz="3600" b="1"/>
          </a:p>
          <a:p>
            <a:pPr marL="0" indent="0">
              <a:buNone/>
            </a:pPr>
            <a:endParaRPr lang="en-IN" altLang="en-US" sz="3600" b="1"/>
          </a:p>
          <a:p>
            <a:r>
              <a:rPr lang="en-US" altLang="en-US" sz="3150"/>
              <a:t>Introduction to Finite Automata</a:t>
            </a:r>
            <a:endParaRPr lang="en-US" altLang="en-US" sz="3150"/>
          </a:p>
          <a:p>
            <a:r>
              <a:rPr lang="en-US" altLang="en-US" sz="3145"/>
              <a:t>Central Concepts of Automata Theory</a:t>
            </a:r>
            <a:endParaRPr lang="en-US" altLang="en-US" sz="3145"/>
          </a:p>
          <a:p>
            <a:r>
              <a:rPr lang="en-US" altLang="en-US" sz="3145"/>
              <a:t>Deterministic Finite Automata (DFA)</a:t>
            </a:r>
            <a:endParaRPr lang="en-US" altLang="en-US" sz="3145"/>
          </a:p>
          <a:p>
            <a:r>
              <a:rPr lang="en-US" altLang="en-US" sz="3145"/>
              <a:t>Nondeterministic Finite Automata (NFA)</a:t>
            </a:r>
            <a:endParaRPr lang="en-US" altLang="en-US" sz="3145"/>
          </a:p>
          <a:p>
            <a:r>
              <a:rPr lang="en-US" altLang="en-US" sz="3145"/>
              <a:t>Finite Automata with Epsilon Transition.</a:t>
            </a:r>
            <a:endParaRPr lang="en-US" altLang="en-US" sz="31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36015"/>
          </a:xfrm>
        </p:spPr>
        <p:txBody>
          <a:bodyPr/>
          <a:p>
            <a:r>
              <a:rPr lang="en-IN" altLang="en-US" b="1">
                <a:sym typeface="+mn-ea"/>
              </a:rPr>
              <a:t>Introduction</a:t>
            </a:r>
            <a:r>
              <a:rPr lang="en-US" altLang="en-IN" b="1">
                <a:sym typeface="+mn-ea"/>
              </a:rPr>
              <a:t> to Automata Theory</a:t>
            </a:r>
            <a:endParaRPr lang="en-US" altLang="en-IN" b="1">
              <a:sym typeface="+mn-ea"/>
            </a:endParaRPr>
          </a:p>
        </p:txBody>
      </p:sp>
      <p:sp>
        <p:nvSpPr>
          <p:cNvPr id="3" name="Content Placeholder 2"/>
          <p:cNvSpPr>
            <a:spLocks noGrp="1"/>
          </p:cNvSpPr>
          <p:nvPr>
            <p:ph idx="1"/>
          </p:nvPr>
        </p:nvSpPr>
        <p:spPr>
          <a:xfrm>
            <a:off x="426720" y="1327150"/>
            <a:ext cx="11408410" cy="4800600"/>
          </a:xfrm>
        </p:spPr>
        <p:txBody>
          <a:bodyPr/>
          <a:p>
            <a:pPr marL="0" indent="0" algn="just">
              <a:buNone/>
            </a:pPr>
            <a:r>
              <a:rPr lang="en-US" altLang="en-US"/>
              <a:t>It is a branch of theoretical computer science</a:t>
            </a:r>
            <a:endParaRPr lang="en-US" altLang="en-US"/>
          </a:p>
          <a:p>
            <a:pPr marL="0" indent="0" algn="just">
              <a:buNone/>
            </a:pPr>
            <a:r>
              <a:rPr lang="en-US" altLang="en-US"/>
              <a:t>Studies abstract machines (automata) and languages</a:t>
            </a:r>
            <a:endParaRPr lang="en-US" altLang="en-US"/>
          </a:p>
          <a:p>
            <a:pPr marL="0" indent="0" algn="just">
              <a:buNone/>
            </a:pPr>
            <a:r>
              <a:rPr lang="en-US" altLang="en-US"/>
              <a:t>Focuses on what problems can be solved by different computational models</a:t>
            </a:r>
            <a:endParaRPr lang="en-US" altLang="en-US"/>
          </a:p>
          <a:p>
            <a:pPr marL="0" indent="0" algn="just">
              <a:buNone/>
            </a:pPr>
            <a:r>
              <a:rPr lang="en-US" altLang="en-US"/>
              <a:t>Foundation of compilers, programming languages, and AI</a:t>
            </a:r>
            <a:endParaRPr lang="en-US" altLang="en-US"/>
          </a:p>
          <a:p>
            <a:pPr marL="0" indent="0" algn="just">
              <a:buNone/>
            </a:pPr>
            <a:endParaRPr lang="en-US" altLang="en-US"/>
          </a:p>
          <a:p>
            <a:pPr marL="0" indent="0" algn="just">
              <a:buNone/>
            </a:pPr>
            <a:r>
              <a:rPr lang="en-US" altLang="en-US"/>
              <a:t>It focuses on how machines process inputs, states, and transitions to perform computations. It is used to understand the capabilities and limitations of computation, especially in areas like language recognition and compiler design.</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36015"/>
          </a:xfrm>
        </p:spPr>
        <p:txBody>
          <a:bodyPr/>
          <a:p>
            <a:r>
              <a:rPr lang="en-US" b="1">
                <a:sym typeface="+mn-ea"/>
              </a:rPr>
              <a:t>Why Study </a:t>
            </a:r>
            <a:r>
              <a:rPr lang="en-US" altLang="en-IN" b="1">
                <a:sym typeface="+mn-ea"/>
              </a:rPr>
              <a:t>Automata Theory?</a:t>
            </a:r>
            <a:endParaRPr lang="en-US" altLang="en-IN" b="1">
              <a:sym typeface="+mn-ea"/>
            </a:endParaRPr>
          </a:p>
        </p:txBody>
      </p:sp>
      <p:sp>
        <p:nvSpPr>
          <p:cNvPr id="3" name="Content Placeholder 2"/>
          <p:cNvSpPr>
            <a:spLocks noGrp="1"/>
          </p:cNvSpPr>
          <p:nvPr>
            <p:ph idx="1"/>
          </p:nvPr>
        </p:nvSpPr>
        <p:spPr>
          <a:xfrm>
            <a:off x="609600" y="1327150"/>
            <a:ext cx="11225530" cy="4800600"/>
          </a:xfrm>
        </p:spPr>
        <p:txBody>
          <a:bodyPr/>
          <a:p>
            <a:pPr marL="0" indent="0" algn="just">
              <a:buNone/>
            </a:pPr>
            <a:r>
              <a:rPr lang="en-US" altLang="en-US"/>
              <a:t>Understand limits of computation</a:t>
            </a:r>
            <a:endParaRPr lang="en-US" altLang="en-US"/>
          </a:p>
          <a:p>
            <a:pPr marL="0" indent="0" algn="just">
              <a:buNone/>
            </a:pPr>
            <a:r>
              <a:rPr lang="en-US" altLang="en-US"/>
              <a:t>Design efficient algorithms</a:t>
            </a:r>
            <a:endParaRPr lang="en-US" altLang="en-US"/>
          </a:p>
          <a:p>
            <a:pPr marL="0" indent="0" algn="just">
              <a:buNone/>
            </a:pPr>
            <a:endParaRPr lang="en-US" altLang="en-US"/>
          </a:p>
          <a:p>
            <a:pPr marL="0" indent="0" algn="just">
              <a:buNone/>
            </a:pPr>
            <a:r>
              <a:rPr lang="en-US" altLang="en-US"/>
              <a:t>Basis for:</a:t>
            </a:r>
            <a:endParaRPr lang="en-US" altLang="en-US"/>
          </a:p>
          <a:p>
            <a:pPr marL="0" indent="0" algn="just">
              <a:buNone/>
            </a:pPr>
            <a:r>
              <a:rPr lang="en-US" altLang="en-US"/>
              <a:t>Compilers and interpreters</a:t>
            </a:r>
            <a:endParaRPr lang="en-US" altLang="en-US"/>
          </a:p>
          <a:p>
            <a:pPr marL="0" indent="0" algn="just">
              <a:buNone/>
            </a:pPr>
            <a:r>
              <a:rPr lang="en-US" altLang="en-US"/>
              <a:t>Text processing and pattern matching</a:t>
            </a:r>
            <a:endParaRPr lang="en-US" altLang="en-US"/>
          </a:p>
          <a:p>
            <a:pPr marL="0" indent="0" algn="just">
              <a:buNone/>
            </a:pPr>
            <a:r>
              <a:rPr lang="en-US" altLang="en-US"/>
              <a:t>Network protocols</a:t>
            </a:r>
            <a:endParaRPr lang="en-US" altLang="en-US"/>
          </a:p>
          <a:p>
            <a:pPr marL="0" indent="0" algn="just">
              <a:buNone/>
            </a:pPr>
            <a:r>
              <a:rPr lang="en-US" altLang="en-US"/>
              <a:t>Builds logical and mathematical thinking</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IN" altLang="en-US" b="1">
                <a:sym typeface="+mn-ea"/>
              </a:rPr>
              <a:t>What is an Automaton?</a:t>
            </a:r>
            <a:endParaRPr lang="en-IN" altLang="en-US" b="1"/>
          </a:p>
        </p:txBody>
      </p:sp>
      <p:sp>
        <p:nvSpPr>
          <p:cNvPr id="3" name="Content Placeholder 2"/>
          <p:cNvSpPr>
            <a:spLocks noGrp="1"/>
          </p:cNvSpPr>
          <p:nvPr>
            <p:ph idx="1"/>
          </p:nvPr>
        </p:nvSpPr>
        <p:spPr>
          <a:xfrm>
            <a:off x="609600" y="1306830"/>
            <a:ext cx="10972800" cy="4820920"/>
          </a:xfrm>
        </p:spPr>
        <p:txBody>
          <a:bodyPr/>
          <a:p>
            <a:pPr marL="0" indent="0" algn="just">
              <a:buNone/>
            </a:pPr>
            <a:r>
              <a:rPr lang="en-US" altLang="en-US"/>
              <a:t>An abstract machine that:</a:t>
            </a:r>
            <a:endParaRPr lang="en-US" altLang="en-US"/>
          </a:p>
          <a:p>
            <a:pPr marL="0" indent="0" algn="just">
              <a:buNone/>
            </a:pPr>
            <a:r>
              <a:rPr lang="en-US" altLang="en-US"/>
              <a:t>Takes input symbols</a:t>
            </a:r>
            <a:endParaRPr lang="en-US" altLang="en-US"/>
          </a:p>
          <a:p>
            <a:pPr marL="0" indent="0" algn="just">
              <a:buNone/>
            </a:pPr>
            <a:r>
              <a:rPr lang="en-US" altLang="en-US"/>
              <a:t>Changes states</a:t>
            </a:r>
            <a:endParaRPr lang="en-US" altLang="en-US"/>
          </a:p>
          <a:p>
            <a:pPr marL="0" indent="0" algn="just">
              <a:buNone/>
            </a:pPr>
            <a:r>
              <a:rPr lang="en-US" altLang="en-US"/>
              <a:t>Produces accept/reject decision</a:t>
            </a:r>
            <a:endParaRPr lang="en-US" altLang="en-US"/>
          </a:p>
          <a:p>
            <a:pPr marL="0" indent="0" algn="ctr">
              <a:buNone/>
            </a:pPr>
            <a:r>
              <a:rPr lang="en-US" altLang="en-US"/>
              <a:t>Key idea: state-based computation</a:t>
            </a:r>
            <a:endParaRPr lang="en-US" altLang="en-US"/>
          </a:p>
          <a:p>
            <a:pPr marL="0" indent="0" algn="just">
              <a:buNone/>
            </a:pPr>
            <a:endParaRPr lang="en-US" altLang="en-US"/>
          </a:p>
          <a:p>
            <a:pPr marL="0" indent="0" algn="just">
              <a:buNone/>
            </a:pPr>
            <a:r>
              <a:rPr lang="en-US" altLang="en-US"/>
              <a:t>Finite automata come in DFA and NFA, both of which can recognize the same set of regular languages. It is widely used in text processing, compilers, and network protocols.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Types of</a:t>
            </a:r>
            <a:r>
              <a:rPr lang="en-IN" altLang="en-US" b="1">
                <a:sym typeface="+mn-ea"/>
              </a:rPr>
              <a:t> Automat</a:t>
            </a:r>
            <a:r>
              <a:rPr lang="en-US" altLang="en-IN" b="1">
                <a:sym typeface="+mn-ea"/>
              </a:rPr>
              <a:t>a</a:t>
            </a:r>
            <a:endParaRPr lang="en-IN" altLang="en-US" b="1"/>
          </a:p>
        </p:txBody>
      </p:sp>
      <p:sp>
        <p:nvSpPr>
          <p:cNvPr id="3" name="Content Placeholder 2"/>
          <p:cNvSpPr>
            <a:spLocks noGrp="1"/>
          </p:cNvSpPr>
          <p:nvPr>
            <p:ph idx="1"/>
          </p:nvPr>
        </p:nvSpPr>
        <p:spPr>
          <a:xfrm>
            <a:off x="609600" y="1306830"/>
            <a:ext cx="10972800" cy="5430520"/>
          </a:xfrm>
        </p:spPr>
        <p:txBody>
          <a:bodyPr/>
          <a:p>
            <a:pPr marL="0" indent="0" algn="just">
              <a:buNone/>
            </a:pPr>
            <a:r>
              <a:rPr lang="en-US" altLang="en-US"/>
              <a:t>Finite Automata (FA) – Includes DFA and NFA; used to recognize regular languages.</a:t>
            </a:r>
            <a:endParaRPr lang="en-US" altLang="en-US"/>
          </a:p>
          <a:p>
            <a:pPr marL="0" indent="0" algn="just">
              <a:buNone/>
            </a:pPr>
            <a:r>
              <a:rPr lang="en-US" altLang="en-US"/>
              <a:t>Pushdown Automata (PDA) – Uses a stack as memory; used to recognize context-free languages.</a:t>
            </a:r>
            <a:endParaRPr lang="en-US" altLang="en-US"/>
          </a:p>
          <a:p>
            <a:pPr marL="0" indent="0" algn="just">
              <a:buNone/>
            </a:pPr>
            <a:r>
              <a:rPr lang="en-US" altLang="en-US"/>
              <a:t>Linear Bounded Automata (LBA) – A restricted form of Turing machine with limited tape; recognizes context-sensitive languages.</a:t>
            </a:r>
            <a:endParaRPr lang="en-US" altLang="en-US"/>
          </a:p>
          <a:p>
            <a:pPr marL="0" indent="0" algn="just">
              <a:buNone/>
            </a:pPr>
            <a:r>
              <a:rPr lang="en-US" altLang="en-US"/>
              <a:t>Turing Machine (TM) – The most powerful automaton with unlimited memory; recognizes recursively enumerable languages.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36015"/>
          </a:xfrm>
        </p:spPr>
        <p:txBody>
          <a:bodyPr/>
          <a:p>
            <a:r>
              <a:rPr lang="en-IN" altLang="en-US" b="1">
                <a:sym typeface="+mn-ea"/>
              </a:rPr>
              <a:t>Introduction to Finite Automata</a:t>
            </a:r>
            <a:endParaRPr lang="en-US"/>
          </a:p>
        </p:txBody>
      </p:sp>
      <p:sp>
        <p:nvSpPr>
          <p:cNvPr id="3" name="Content Placeholder 2"/>
          <p:cNvSpPr>
            <a:spLocks noGrp="1"/>
          </p:cNvSpPr>
          <p:nvPr>
            <p:ph idx="1"/>
          </p:nvPr>
        </p:nvSpPr>
        <p:spPr>
          <a:xfrm>
            <a:off x="609600" y="1327150"/>
            <a:ext cx="10972800" cy="4800600"/>
          </a:xfrm>
        </p:spPr>
        <p:txBody>
          <a:bodyPr/>
          <a:p>
            <a:pPr marL="0" indent="0" algn="just">
              <a:buNone/>
            </a:pPr>
            <a:r>
              <a:rPr lang="en-US" altLang="en-US"/>
              <a:t>Finite automata are abstract machines used to recognize patterns in input sequences, forming the basis for understanding regular languages in computer science.</a:t>
            </a:r>
            <a:endParaRPr lang="en-US" altLang="en-US"/>
          </a:p>
          <a:p>
            <a:pPr marL="0" indent="0" algn="just">
              <a:buNone/>
            </a:pPr>
            <a:endParaRPr lang="en-US" altLang="en-US"/>
          </a:p>
          <a:p>
            <a:pPr marL="0" indent="0" algn="just">
              <a:buNone/>
            </a:pPr>
            <a:r>
              <a:rPr lang="en-IN" altLang="en-US"/>
              <a:t>It c</a:t>
            </a:r>
            <a:r>
              <a:rPr lang="en-US" altLang="en-US"/>
              <a:t>onsist of states, transitions, input symbols</a:t>
            </a:r>
            <a:r>
              <a:rPr lang="en-IN" altLang="en-US"/>
              <a:t> and output</a:t>
            </a:r>
            <a:r>
              <a:rPr lang="en-US" altLang="en-US"/>
              <a:t>, processing each symbol step-by-step.</a:t>
            </a:r>
            <a:endParaRPr lang="en-US" altLang="en-US"/>
          </a:p>
          <a:p>
            <a:pPr marL="0" indent="0" algn="just">
              <a:buNone/>
            </a:pPr>
            <a:endParaRPr lang="en-US" altLang="en-US"/>
          </a:p>
          <a:p>
            <a:pPr marL="0" indent="0" algn="just">
              <a:buNone/>
            </a:pPr>
            <a:r>
              <a:rPr lang="en-US" altLang="en-US"/>
              <a:t>If </a:t>
            </a:r>
            <a:r>
              <a:rPr lang="en-IN" altLang="en-US"/>
              <a:t>it </a:t>
            </a:r>
            <a:r>
              <a:rPr lang="en-US" altLang="en-US"/>
              <a:t>ends in an accepting state after processing the input, then the input is accepted; otherwise, rejected.</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IN" altLang="en-US" b="1">
                <a:sym typeface="+mn-ea"/>
              </a:rPr>
              <a:t>Features of Finite Automata</a:t>
            </a:r>
            <a:endParaRPr lang="en-US"/>
          </a:p>
        </p:txBody>
      </p:sp>
      <p:sp>
        <p:nvSpPr>
          <p:cNvPr id="3" name="Content Placeholder 2"/>
          <p:cNvSpPr>
            <a:spLocks noGrp="1"/>
          </p:cNvSpPr>
          <p:nvPr>
            <p:ph idx="1"/>
          </p:nvPr>
        </p:nvSpPr>
        <p:spPr>
          <a:xfrm>
            <a:off x="609600" y="1713230"/>
            <a:ext cx="10972800" cy="4414520"/>
          </a:xfrm>
        </p:spPr>
        <p:txBody>
          <a:bodyPr/>
          <a:p>
            <a:pPr marL="0" indent="0" algn="just">
              <a:buNone/>
            </a:pPr>
            <a:r>
              <a:rPr lang="en-US" altLang="en-US"/>
              <a:t>Input: Set of symbols or characters provided to the machine.</a:t>
            </a:r>
            <a:endParaRPr lang="en-US" altLang="en-US"/>
          </a:p>
          <a:p>
            <a:pPr marL="0" indent="0" algn="just">
              <a:buNone/>
            </a:pPr>
            <a:r>
              <a:rPr lang="en-US" altLang="en-US"/>
              <a:t>Output: Accept or reject based on the input pattern.</a:t>
            </a:r>
            <a:endParaRPr lang="en-US" altLang="en-US"/>
          </a:p>
          <a:p>
            <a:pPr marL="0" indent="0" algn="just">
              <a:buNone/>
            </a:pPr>
            <a:r>
              <a:rPr lang="en-US" altLang="en-US"/>
              <a:t>States of Automata: The conditions or configurations of the machine.</a:t>
            </a:r>
            <a:endParaRPr lang="en-US" altLang="en-US"/>
          </a:p>
          <a:p>
            <a:pPr marL="0" indent="0" algn="just">
              <a:buNone/>
            </a:pPr>
            <a:r>
              <a:rPr lang="en-US" altLang="en-US"/>
              <a:t>State Relation: The transitions between states.</a:t>
            </a:r>
            <a:endParaRPr lang="en-US" altLang="en-US"/>
          </a:p>
          <a:p>
            <a:pPr marL="0" indent="0" algn="just">
              <a:buNone/>
            </a:pPr>
            <a:r>
              <a:rPr lang="en-US" altLang="en-US"/>
              <a:t>Output Relation: Based on the final state, the output decision is made.</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Application and Definition </a:t>
            </a:r>
            <a:r>
              <a:rPr lang="en-IN" altLang="en-US" b="1">
                <a:sym typeface="+mn-ea"/>
              </a:rPr>
              <a:t>of Finite Automata</a:t>
            </a:r>
            <a:endParaRPr lang="en-US"/>
          </a:p>
        </p:txBody>
      </p:sp>
      <p:sp>
        <p:nvSpPr>
          <p:cNvPr id="3" name="Content Placeholder 2"/>
          <p:cNvSpPr>
            <a:spLocks noGrp="1"/>
          </p:cNvSpPr>
          <p:nvPr>
            <p:ph idx="1"/>
          </p:nvPr>
        </p:nvSpPr>
        <p:spPr>
          <a:xfrm>
            <a:off x="609600" y="1713230"/>
            <a:ext cx="10972800" cy="4953000"/>
          </a:xfrm>
        </p:spPr>
        <p:txBody>
          <a:bodyPr/>
          <a:p>
            <a:pPr marL="0" indent="0" algn="just">
              <a:buNone/>
            </a:pPr>
            <a:r>
              <a:rPr lang="en-US" altLang="en-US"/>
              <a:t>Simplest type of automaton, that has the following properties:</a:t>
            </a:r>
            <a:endParaRPr lang="en-US" altLang="en-US"/>
          </a:p>
          <a:p>
            <a:pPr marL="0" indent="0" algn="just">
              <a:buNone/>
            </a:pPr>
            <a:r>
              <a:rPr lang="en-US" altLang="en-US"/>
              <a:t>Finite number of states</a:t>
            </a:r>
            <a:endParaRPr lang="en-US" altLang="en-US"/>
          </a:p>
          <a:p>
            <a:pPr marL="0" indent="0" algn="just">
              <a:buNone/>
            </a:pPr>
            <a:r>
              <a:rPr lang="en-US" altLang="en-US"/>
              <a:t>No external memory</a:t>
            </a:r>
            <a:endParaRPr lang="en-US" altLang="en-US"/>
          </a:p>
          <a:p>
            <a:pPr marL="0" indent="0" algn="just">
              <a:buNone/>
            </a:pPr>
            <a:r>
              <a:rPr lang="en-US" altLang="en-US"/>
              <a:t>Used to recognize regular languages</a:t>
            </a:r>
            <a:endParaRPr lang="en-US" altLang="en-US"/>
          </a:p>
          <a:p>
            <a:pPr marL="0" indent="0" algn="just">
              <a:buNone/>
            </a:pPr>
            <a:endParaRPr lang="en-US" altLang="en-US"/>
          </a:p>
          <a:p>
            <a:pPr marL="0" indent="0" algn="just">
              <a:buNone/>
            </a:pPr>
            <a:r>
              <a:rPr lang="en-US" altLang="en-US"/>
              <a:t>Applications: Lexical analysis in compilers, Pattern matching (search engines, editors), Token recognition, Control systems (e.g., vending machines)</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Formal Definition </a:t>
            </a:r>
            <a:r>
              <a:rPr lang="en-IN" altLang="en-US" b="1">
                <a:sym typeface="+mn-ea"/>
              </a:rPr>
              <a:t>of Finite Automata</a:t>
            </a:r>
            <a:endParaRPr lang="en-US"/>
          </a:p>
        </p:txBody>
      </p:sp>
      <p:sp>
        <p:nvSpPr>
          <p:cNvPr id="3" name="Content Placeholder 2"/>
          <p:cNvSpPr>
            <a:spLocks noGrp="1"/>
          </p:cNvSpPr>
          <p:nvPr>
            <p:ph idx="1"/>
          </p:nvPr>
        </p:nvSpPr>
        <p:spPr>
          <a:xfrm>
            <a:off x="609600" y="1713230"/>
            <a:ext cx="10972800" cy="4414520"/>
          </a:xfrm>
        </p:spPr>
        <p:txBody>
          <a:bodyPr/>
          <a:p>
            <a:pPr marL="0" indent="0" algn="just">
              <a:buNone/>
            </a:pPr>
            <a:r>
              <a:rPr lang="en-US" altLang="en-US"/>
              <a:t>A finite automaton can be defined as a tuple:</a:t>
            </a:r>
            <a:endParaRPr lang="en-US" altLang="en-US"/>
          </a:p>
          <a:p>
            <a:pPr marL="0" indent="0" algn="just">
              <a:buNone/>
            </a:pPr>
            <a:r>
              <a:rPr lang="en-US" altLang="en-US"/>
              <a:t>{ Q, Σ, q, F, δ }, where:</a:t>
            </a:r>
            <a:endParaRPr lang="en-US" altLang="en-US"/>
          </a:p>
          <a:p>
            <a:pPr marL="0" indent="0" algn="just">
              <a:buNone/>
            </a:pPr>
            <a:r>
              <a:rPr lang="en-US" altLang="en-US"/>
              <a:t>Q: Finite set of states</a:t>
            </a:r>
            <a:endParaRPr lang="en-US" altLang="en-US"/>
          </a:p>
          <a:p>
            <a:pPr marL="0" indent="0" algn="just">
              <a:buNone/>
            </a:pPr>
            <a:r>
              <a:rPr lang="en-US" altLang="en-US"/>
              <a:t>Σ: Set of input symbols</a:t>
            </a:r>
            <a:endParaRPr lang="en-US" altLang="en-US"/>
          </a:p>
          <a:p>
            <a:pPr marL="0" indent="0" algn="just">
              <a:buNone/>
            </a:pPr>
            <a:r>
              <a:rPr lang="en-US" altLang="en-US"/>
              <a:t>q: Initial state</a:t>
            </a:r>
            <a:endParaRPr lang="en-US" altLang="en-US"/>
          </a:p>
          <a:p>
            <a:pPr marL="0" indent="0" algn="just">
              <a:buNone/>
            </a:pPr>
            <a:r>
              <a:rPr lang="en-US" altLang="en-US"/>
              <a:t>F: Set of final states</a:t>
            </a:r>
            <a:endParaRPr lang="en-US" altLang="en-US"/>
          </a:p>
          <a:p>
            <a:pPr marL="0" indent="0" algn="just">
              <a:buNone/>
            </a:pPr>
            <a:r>
              <a:rPr lang="en-US" altLang="en-US"/>
              <a:t>δ: Transition function</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Representation </a:t>
            </a:r>
            <a:r>
              <a:rPr lang="en-IN" altLang="en-US" b="1">
                <a:sym typeface="+mn-ea"/>
              </a:rPr>
              <a:t>of Finite Automata</a:t>
            </a:r>
            <a:endParaRPr lang="en-US"/>
          </a:p>
        </p:txBody>
      </p:sp>
      <p:sp>
        <p:nvSpPr>
          <p:cNvPr id="3" name="Content Placeholder 2"/>
          <p:cNvSpPr>
            <a:spLocks noGrp="1"/>
          </p:cNvSpPr>
          <p:nvPr>
            <p:ph idx="1"/>
          </p:nvPr>
        </p:nvSpPr>
        <p:spPr>
          <a:xfrm>
            <a:off x="609600" y="1308100"/>
            <a:ext cx="10972800" cy="5349240"/>
          </a:xfrm>
        </p:spPr>
        <p:txBody>
          <a:bodyPr/>
          <a:p>
            <a:pPr marL="0" indent="0" algn="just">
              <a:buNone/>
            </a:pPr>
            <a:r>
              <a:rPr lang="en-US" altLang="en-US"/>
              <a:t>States (Q): represent machine conditions</a:t>
            </a:r>
            <a:endParaRPr lang="en-US" altLang="en-US"/>
          </a:p>
          <a:p>
            <a:pPr marL="0" indent="0" algn="just">
              <a:buNone/>
            </a:pPr>
            <a:r>
              <a:rPr lang="en-US" altLang="en-US"/>
              <a:t>Alphabet (Σ): finite set of input symbols</a:t>
            </a:r>
            <a:endParaRPr lang="en-US" altLang="en-US"/>
          </a:p>
          <a:p>
            <a:pPr marL="0" indent="0" algn="just">
              <a:buNone/>
            </a:pPr>
            <a:r>
              <a:rPr lang="en-US" altLang="en-US"/>
              <a:t>Example:</a:t>
            </a:r>
            <a:endParaRPr lang="en-US" altLang="en-US"/>
          </a:p>
          <a:p>
            <a:pPr marL="0" indent="0" algn="just">
              <a:buNone/>
            </a:pPr>
            <a:r>
              <a:rPr lang="en-US" altLang="en-US"/>
              <a:t>Q = {q0, q1, q2}</a:t>
            </a:r>
            <a:endParaRPr lang="en-US" altLang="en-US"/>
          </a:p>
          <a:p>
            <a:pPr marL="0" indent="0" algn="just">
              <a:buNone/>
            </a:pPr>
            <a:r>
              <a:rPr lang="en-US" altLang="en-US"/>
              <a:t>Σ = {0, 1}</a:t>
            </a:r>
            <a:endParaRPr lang="en-US" altLang="en-US"/>
          </a:p>
          <a:p>
            <a:pPr marL="0" indent="0" algn="just">
              <a:buNone/>
            </a:pPr>
            <a:r>
              <a:rPr lang="en-US" altLang="en-US"/>
              <a:t>How automaton moves between states: Transition Function</a:t>
            </a:r>
            <a:endParaRPr lang="en-US" altLang="en-US"/>
          </a:p>
          <a:p>
            <a:pPr marL="0" indent="0" algn="just">
              <a:buNone/>
            </a:pPr>
            <a:r>
              <a:rPr lang="en-US" altLang="en-US"/>
              <a:t>δ(q, a) → next state</a:t>
            </a:r>
            <a:endParaRPr lang="en-US" altLang="en-US"/>
          </a:p>
          <a:p>
            <a:pPr marL="0" indent="0" algn="just">
              <a:buNone/>
            </a:pPr>
            <a:r>
              <a:rPr lang="en-US" altLang="en-US"/>
              <a:t>Depends on:</a:t>
            </a:r>
            <a:endParaRPr lang="en-US" altLang="en-US"/>
          </a:p>
          <a:p>
            <a:pPr marL="0" indent="0" algn="just">
              <a:buNone/>
            </a:pPr>
            <a:r>
              <a:rPr lang="en-US" altLang="en-US"/>
              <a:t>Current State &amp; Input Symbol</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Working </a:t>
            </a:r>
            <a:r>
              <a:rPr lang="en-IN" altLang="en-US" b="1">
                <a:sym typeface="+mn-ea"/>
              </a:rPr>
              <a:t>of </a:t>
            </a:r>
            <a:r>
              <a:rPr lang="en-US" altLang="en-IN" b="1">
                <a:sym typeface="+mn-ea"/>
              </a:rPr>
              <a:t>a </a:t>
            </a:r>
            <a:r>
              <a:rPr lang="en-IN" altLang="en-US" b="1">
                <a:sym typeface="+mn-ea"/>
              </a:rPr>
              <a:t>Finite Automata</a:t>
            </a:r>
            <a:endParaRPr lang="en-US"/>
          </a:p>
        </p:txBody>
      </p:sp>
      <p:sp>
        <p:nvSpPr>
          <p:cNvPr id="3" name="Content Placeholder 2"/>
          <p:cNvSpPr>
            <a:spLocks noGrp="1"/>
          </p:cNvSpPr>
          <p:nvPr>
            <p:ph idx="1"/>
          </p:nvPr>
        </p:nvSpPr>
        <p:spPr>
          <a:xfrm>
            <a:off x="609600" y="1308100"/>
            <a:ext cx="10972800" cy="5349240"/>
          </a:xfrm>
        </p:spPr>
        <p:txBody>
          <a:bodyPr/>
          <a:p>
            <a:pPr marL="0" indent="0" algn="just">
              <a:buNone/>
            </a:pPr>
            <a:r>
              <a:rPr lang="en-US" altLang="en-US"/>
              <a:t>Start state (q₀): Where the computation begins</a:t>
            </a:r>
            <a:endParaRPr lang="en-US" altLang="en-US"/>
          </a:p>
          <a:p>
            <a:pPr marL="0" indent="0" algn="just">
              <a:buNone/>
            </a:pPr>
            <a:r>
              <a:rPr lang="en-US" altLang="en-US"/>
              <a:t>Accepting (final) states (F): </a:t>
            </a:r>
            <a:endParaRPr lang="en-US" altLang="en-US"/>
          </a:p>
          <a:p>
            <a:pPr marL="0" indent="0" algn="just">
              <a:buNone/>
            </a:pPr>
            <a:r>
              <a:rPr lang="en-US" altLang="en-US"/>
              <a:t>If input ends in one of these → string accepted</a:t>
            </a:r>
            <a:endParaRPr lang="en-US" altLang="en-US"/>
          </a:p>
          <a:p>
            <a:pPr marL="0" indent="0" algn="just">
              <a:buNone/>
            </a:pPr>
            <a:endParaRPr lang="en-US" altLang="en-US"/>
          </a:p>
          <a:p>
            <a:pPr marL="0" indent="0" algn="just">
              <a:buNone/>
            </a:pPr>
            <a:r>
              <a:rPr lang="en-US" altLang="en-US"/>
              <a:t>Reads input string symbol by symbol</a:t>
            </a:r>
            <a:endParaRPr lang="en-US" altLang="en-US"/>
          </a:p>
          <a:p>
            <a:pPr marL="0" indent="0" algn="just">
              <a:buNone/>
            </a:pPr>
            <a:r>
              <a:rPr lang="en-US" altLang="en-US"/>
              <a:t>Moves between states using transition function</a:t>
            </a:r>
            <a:endParaRPr lang="en-US" altLang="en-US"/>
          </a:p>
          <a:p>
            <a:pPr marL="0" indent="0" algn="just">
              <a:buNone/>
            </a:pPr>
            <a:r>
              <a:rPr lang="en-US" altLang="en-US"/>
              <a:t>After reading entire string:</a:t>
            </a:r>
            <a:endParaRPr lang="en-US" altLang="en-US"/>
          </a:p>
          <a:p>
            <a:pPr marL="0" indent="0" algn="just">
              <a:buNone/>
            </a:pPr>
            <a:r>
              <a:rPr lang="en-US" altLang="en-US"/>
              <a:t>If in accepting state → accepted</a:t>
            </a:r>
            <a:endParaRPr lang="en-US" altLang="en-US"/>
          </a:p>
          <a:p>
            <a:pPr marL="0" indent="0" algn="just">
              <a:buNone/>
            </a:pPr>
            <a:r>
              <a:rPr lang="en-US" altLang="en-US"/>
              <a:t>Otherwise → rejected</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73760" y="190500"/>
            <a:ext cx="10708640" cy="1116965"/>
          </a:xfrm>
        </p:spPr>
        <p:txBody>
          <a:bodyPr/>
          <a:p>
            <a:r>
              <a:rPr lang="en-IN" altLang="en-US" b="1">
                <a:sym typeface="+mn-ea"/>
              </a:rPr>
              <a:t>Finite Automata</a:t>
            </a:r>
            <a:r>
              <a:rPr lang="en-US" altLang="en-IN" b="1">
                <a:sym typeface="+mn-ea"/>
              </a:rPr>
              <a:t>: Limitations</a:t>
            </a:r>
            <a:endParaRPr lang="en-US" altLang="en-IN" b="1">
              <a:sym typeface="+mn-ea"/>
            </a:endParaRPr>
          </a:p>
        </p:txBody>
      </p:sp>
      <p:sp>
        <p:nvSpPr>
          <p:cNvPr id="3" name="Content Placeholder 2"/>
          <p:cNvSpPr>
            <a:spLocks noGrp="1"/>
          </p:cNvSpPr>
          <p:nvPr>
            <p:ph idx="1"/>
          </p:nvPr>
        </p:nvSpPr>
        <p:spPr>
          <a:xfrm>
            <a:off x="874395" y="1508760"/>
            <a:ext cx="10240010" cy="5349240"/>
          </a:xfrm>
        </p:spPr>
        <p:txBody>
          <a:bodyPr/>
          <a:p>
            <a:pPr algn="just">
              <a:buFont typeface="Arial" panose="020B0604020202020204" pitchFamily="34" charset="0"/>
              <a:buChar char="•"/>
            </a:pPr>
            <a:r>
              <a:rPr lang="en-US" altLang="en-US"/>
              <a:t>Finite automata have limited memory and cannot store an arbitrary amount of information.</a:t>
            </a:r>
            <a:endParaRPr lang="en-US" altLang="en-US"/>
          </a:p>
          <a:p>
            <a:pPr algn="just">
              <a:buFont typeface="Arial" panose="020B0604020202020204" pitchFamily="34" charset="0"/>
              <a:buChar char="•"/>
            </a:pPr>
            <a:r>
              <a:rPr lang="en-US" altLang="en-US"/>
              <a:t>They cannot recognize non-regular languages, such as languages requiring counting or matching.</a:t>
            </a:r>
            <a:endParaRPr lang="en-US" altLang="en-US"/>
          </a:p>
          <a:p>
            <a:pPr algn="just">
              <a:buFont typeface="Arial" panose="020B0604020202020204" pitchFamily="34" charset="0"/>
              <a:buChar char="•"/>
            </a:pPr>
            <a:r>
              <a:rPr lang="en-US" altLang="en-US"/>
              <a:t>Finite automata cannot handle nested structures, like balanced parentheses.</a:t>
            </a:r>
            <a:endParaRPr lang="en-US" altLang="en-US"/>
          </a:p>
          <a:p>
            <a:pPr algn="just">
              <a:buFont typeface="Arial" panose="020B0604020202020204" pitchFamily="34" charset="0"/>
              <a:buChar char="•"/>
            </a:pPr>
            <a:r>
              <a:rPr lang="en-US" altLang="en-US"/>
              <a:t>They are not suitable for complex computations that require more than finite states.</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Types </a:t>
            </a:r>
            <a:r>
              <a:rPr lang="en-IN" altLang="en-US" b="1">
                <a:sym typeface="+mn-ea"/>
              </a:rPr>
              <a:t>of Finite Automata</a:t>
            </a:r>
            <a:endParaRPr lang="en-US"/>
          </a:p>
        </p:txBody>
      </p:sp>
      <p:sp>
        <p:nvSpPr>
          <p:cNvPr id="3" name="Content Placeholder 2"/>
          <p:cNvSpPr>
            <a:spLocks noGrp="1"/>
          </p:cNvSpPr>
          <p:nvPr>
            <p:ph idx="1"/>
          </p:nvPr>
        </p:nvSpPr>
        <p:spPr>
          <a:xfrm>
            <a:off x="609600" y="1713230"/>
            <a:ext cx="10972800" cy="4414520"/>
          </a:xfrm>
        </p:spPr>
        <p:txBody>
          <a:bodyPr/>
          <a:p>
            <a:pPr marL="0" indent="0" algn="just">
              <a:buNone/>
            </a:pPr>
            <a:r>
              <a:rPr lang="en-US" altLang="en-US"/>
              <a:t>Deterministic Fintie Automata (DFA)</a:t>
            </a:r>
            <a:endParaRPr lang="en-US" altLang="en-US"/>
          </a:p>
          <a:p>
            <a:pPr marL="0" indent="0" algn="just">
              <a:buNone/>
            </a:pPr>
            <a:r>
              <a:rPr lang="en-US" altLang="en-US"/>
              <a:t>Non-Deterministic Finite Automata (NFA)</a:t>
            </a:r>
            <a:endParaRPr lang="en-US" altLang="en-US"/>
          </a:p>
          <a:p>
            <a:pPr marL="0" indent="0" algn="just">
              <a:buNone/>
            </a:pPr>
            <a:endParaRPr lang="en-US" altLang="en-US"/>
          </a:p>
          <a:p>
            <a:pPr marL="0" indent="0" algn="just">
              <a:buNone/>
            </a:pPr>
            <a:r>
              <a:rPr lang="en-US" altLang="en-US"/>
              <a:t>1. Deterministic Finite Automata (DFA)</a:t>
            </a:r>
            <a:endParaRPr lang="en-US" altLang="en-US"/>
          </a:p>
          <a:p>
            <a:pPr marL="0" indent="0" algn="just">
              <a:buNone/>
            </a:pPr>
            <a:r>
              <a:rPr lang="en-US" altLang="en-US"/>
              <a:t>A DFA is represented as {Q, Σ, q, F, δ}. In DFA, for each input symbol, the machine transitions to one and only one state. DFA does not allow any null transitions, meaning every state must have a transition defined for every input symbol.</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Types </a:t>
            </a:r>
            <a:r>
              <a:rPr lang="en-IN" altLang="en-US" b="1">
                <a:sym typeface="+mn-ea"/>
              </a:rPr>
              <a:t>of Finite Automata</a:t>
            </a:r>
            <a:endParaRPr lang="en-US"/>
          </a:p>
        </p:txBody>
      </p:sp>
      <p:sp>
        <p:nvSpPr>
          <p:cNvPr id="3" name="Content Placeholder 2"/>
          <p:cNvSpPr>
            <a:spLocks noGrp="1"/>
          </p:cNvSpPr>
          <p:nvPr>
            <p:ph idx="1"/>
          </p:nvPr>
        </p:nvSpPr>
        <p:spPr>
          <a:xfrm>
            <a:off x="609600" y="1713230"/>
            <a:ext cx="10972800" cy="4414520"/>
          </a:xfrm>
        </p:spPr>
        <p:txBody>
          <a:bodyPr/>
          <a:p>
            <a:pPr marL="0" indent="0" algn="just">
              <a:buNone/>
            </a:pPr>
            <a:r>
              <a:rPr lang="en-US" altLang="en-US"/>
              <a:t>2) Non-Deterministic Finite Automata (NFA)</a:t>
            </a:r>
            <a:endParaRPr lang="en-US" altLang="en-US"/>
          </a:p>
          <a:p>
            <a:pPr marL="0" indent="0" algn="just">
              <a:buNone/>
            </a:pPr>
            <a:endParaRPr lang="en-US" altLang="en-US"/>
          </a:p>
          <a:p>
            <a:pPr marL="0" indent="0" algn="just">
              <a:buNone/>
            </a:pPr>
            <a:r>
              <a:rPr lang="en-US" altLang="en-US"/>
              <a:t>NFA is similar to DFA but includes the following features:</a:t>
            </a:r>
            <a:endParaRPr lang="en-US" altLang="en-US"/>
          </a:p>
          <a:p>
            <a:pPr marL="0" indent="0" algn="just">
              <a:buNone/>
            </a:pPr>
            <a:r>
              <a:rPr lang="en-US" altLang="en-US"/>
              <a:t>It can transition to multiple states for the same input.</a:t>
            </a:r>
            <a:endParaRPr lang="en-US" altLang="en-US"/>
          </a:p>
          <a:p>
            <a:pPr marL="0" indent="0" algn="just">
              <a:buNone/>
            </a:pPr>
            <a:r>
              <a:rPr lang="en-US" altLang="en-US"/>
              <a:t>It allows null (</a:t>
            </a:r>
            <a:r>
              <a:rPr lang="en-US" altLang="en-US"/>
              <a:t>ϵ</a:t>
            </a:r>
            <a:r>
              <a:rPr lang="en-US" altLang="en-US"/>
              <a:t>) moves, where the machine can change states without consuming any input.</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altLang="en-IN" b="1">
                <a:sym typeface="+mn-ea"/>
              </a:rPr>
              <a:t>Types </a:t>
            </a:r>
            <a:r>
              <a:rPr lang="en-IN" altLang="en-US" b="1">
                <a:sym typeface="+mn-ea"/>
              </a:rPr>
              <a:t>of Finite Automata</a:t>
            </a:r>
            <a:endParaRPr lang="en-US"/>
          </a:p>
        </p:txBody>
      </p:sp>
      <p:graphicFrame>
        <p:nvGraphicFramePr>
          <p:cNvPr id="4" name="Table 3"/>
          <p:cNvGraphicFramePr/>
          <p:nvPr>
            <p:custDataLst>
              <p:tags r:id="rId1"/>
            </p:custDataLst>
          </p:nvPr>
        </p:nvGraphicFramePr>
        <p:xfrm>
          <a:off x="283845" y="1307465"/>
          <a:ext cx="11298555" cy="5486400"/>
        </p:xfrm>
        <a:graphic>
          <a:graphicData uri="http://schemas.openxmlformats.org/drawingml/2006/table">
            <a:tbl>
              <a:tblPr/>
              <a:tblGrid>
                <a:gridCol w="5638800"/>
                <a:gridCol w="5659755"/>
              </a:tblGrid>
              <a:tr h="476250">
                <a:tc>
                  <a:txBody>
                    <a:bodyPr/>
                    <a:p>
                      <a:pPr marL="0" indent="0" algn="ctr" fontAlgn="base">
                        <a:spcBef>
                          <a:spcPct val="0"/>
                        </a:spcBef>
                        <a:spcAft>
                          <a:spcPts val="600"/>
                        </a:spcAft>
                      </a:pPr>
                      <a:r>
                        <a:rPr sz="2800" b="1" i="0">
                          <a:solidFill>
                            <a:schemeClr val="bg1"/>
                          </a:solidFill>
                          <a:latin typeface="Times New Roman" panose="02020603050405020304" charset="0"/>
                          <a:ea typeface="Nunito"/>
                          <a:cs typeface="Times New Roman" panose="02020603050405020304" charset="0"/>
                        </a:rPr>
                        <a:t>DFA</a:t>
                      </a:r>
                      <a:endParaRPr sz="2800" b="1" i="0">
                        <a:solidFill>
                          <a:schemeClr val="bg1"/>
                        </a:solidFill>
                        <a:latin typeface="Times New Roman" panose="02020603050405020304" charset="0"/>
                        <a:ea typeface="Nunito"/>
                        <a:cs typeface="Times New Roman" panose="02020603050405020304" charset="0"/>
                      </a:endParaRPr>
                    </a:p>
                  </a:txBody>
                  <a:tcPr marL="38100" marR="38100"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2A2A2C"/>
                    </a:solidFill>
                  </a:tcPr>
                </a:tc>
                <a:tc>
                  <a:txBody>
                    <a:bodyPr/>
                    <a:p>
                      <a:pPr marL="0" indent="0" algn="ctr" fontAlgn="base">
                        <a:spcBef>
                          <a:spcPct val="0"/>
                        </a:spcBef>
                        <a:spcAft>
                          <a:spcPts val="600"/>
                        </a:spcAft>
                      </a:pPr>
                      <a:r>
                        <a:rPr sz="2800" b="1" i="0">
                          <a:solidFill>
                            <a:schemeClr val="bg1"/>
                          </a:solidFill>
                          <a:latin typeface="Times New Roman" panose="02020603050405020304" charset="0"/>
                          <a:ea typeface="Nunito"/>
                          <a:cs typeface="Times New Roman" panose="02020603050405020304" charset="0"/>
                        </a:rPr>
                        <a:t>NFA</a:t>
                      </a:r>
                      <a:endParaRPr sz="2800" b="1" i="0">
                        <a:solidFill>
                          <a:schemeClr val="bg1"/>
                        </a:solidFill>
                        <a:latin typeface="Times New Roman" panose="02020603050405020304" charset="0"/>
                        <a:ea typeface="Nunito"/>
                        <a:cs typeface="Times New Roman" panose="02020603050405020304" charset="0"/>
                      </a:endParaRPr>
                    </a:p>
                  </a:txBody>
                  <a:tcPr marL="76517" marR="76517" marT="76517" marB="76517">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solidFill>
                      <a:srgbClr val="2A2A2C"/>
                    </a:solidFill>
                  </a:tcPr>
                </a:tc>
              </a:tr>
              <a:tr h="543560">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Deterministic: exactly one transition per input symbol</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Non-deterministic: multiple transitions per input symbol allowed</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544195">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No ε (null) moves</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Allows ε (null) moves</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544195">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Simpler but sometimes larger in design</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More flexible and easier to design</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543560">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Next state is uniquely determined</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Next state may </a:t>
                      </a:r>
                      <a:r>
                        <a:rPr lang="en-US" sz="2800" b="0" i="0">
                          <a:solidFill>
                            <a:schemeClr val="tx1"/>
                          </a:solidFill>
                          <a:latin typeface="Times New Roman" panose="02020603050405020304" charset="0"/>
                          <a:ea typeface="Nunito"/>
                          <a:cs typeface="Times New Roman" panose="02020603050405020304" charset="0"/>
                        </a:rPr>
                        <a:t>hav</a:t>
                      </a:r>
                      <a:r>
                        <a:rPr sz="2800" b="0" i="0">
                          <a:solidFill>
                            <a:schemeClr val="tx1"/>
                          </a:solidFill>
                          <a:latin typeface="Times New Roman" panose="02020603050405020304" charset="0"/>
                          <a:ea typeface="Nunito"/>
                          <a:cs typeface="Times New Roman" panose="02020603050405020304" charset="0"/>
                        </a:rPr>
                        <a:t>e multiple possibilities</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r h="544195">
                <a:tc>
                  <a:txBody>
                    <a:bodyPr/>
                    <a:p>
                      <a:pPr marL="0" indent="0" algn="ctr" fontAlgn="base">
                        <a:spcBef>
                          <a:spcPct val="0"/>
                        </a:spcBef>
                        <a:spcAft>
                          <a:spcPts val="600"/>
                        </a:spcAft>
                      </a:pPr>
                      <a:r>
                        <a:rPr sz="2800" b="0" i="0">
                          <a:solidFill>
                            <a:schemeClr val="tx1"/>
                          </a:solidFill>
                          <a:latin typeface="Times New Roman" panose="02020603050405020304" charset="0"/>
                          <a:ea typeface="Nunito"/>
                          <a:cs typeface="Times New Roman" panose="02020603050405020304" charset="0"/>
                        </a:rPr>
                        <a:t>Recognizes regular languages; NFAs can be converted to DFA</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c>
                  <a:txBody>
                    <a:bodyPr/>
                    <a:p>
                      <a:pPr marL="0" indent="0" algn="ctr" fontAlgn="ctr">
                        <a:spcBef>
                          <a:spcPct val="0"/>
                        </a:spcBef>
                        <a:spcAft>
                          <a:spcPct val="0"/>
                        </a:spcAft>
                      </a:pPr>
                      <a:r>
                        <a:rPr sz="2800" b="0" i="0">
                          <a:solidFill>
                            <a:schemeClr val="tx1"/>
                          </a:solidFill>
                          <a:latin typeface="Times New Roman" panose="02020603050405020304" charset="0"/>
                          <a:ea typeface="Nunito"/>
                          <a:cs typeface="Times New Roman" panose="02020603050405020304" charset="0"/>
                        </a:rPr>
                        <a:t>Recognizes regular languages; equivalent in power to DFA</a:t>
                      </a:r>
                      <a:endParaRPr sz="2800" b="0" i="0">
                        <a:solidFill>
                          <a:schemeClr val="tx1"/>
                        </a:solidFill>
                        <a:latin typeface="Times New Roman" panose="02020603050405020304" charset="0"/>
                        <a:ea typeface="Nunito"/>
                        <a:cs typeface="Times New Roman" panose="02020603050405020304" charset="0"/>
                      </a:endParaRPr>
                    </a:p>
                  </a:txBody>
                  <a:tcPr marL="76517" marR="76517" marT="106997" marB="106997" anchor="ctr" anchorCtr="0">
                    <a:lnL w="2540" cap="flat" cmpd="sng">
                      <a:solidFill>
                        <a:srgbClr val="DFDFDF"/>
                      </a:solidFill>
                      <a:prstDash val="solid"/>
                      <a:headEnd type="none" w="med" len="med"/>
                      <a:tailEnd type="none" w="med" len="med"/>
                    </a:lnL>
                    <a:lnR w="2540" cap="flat" cmpd="sng">
                      <a:solidFill>
                        <a:srgbClr val="DFDFDF"/>
                      </a:solidFill>
                      <a:prstDash val="solid"/>
                      <a:headEnd type="none" w="med" len="med"/>
                      <a:tailEnd type="none" w="med" len="med"/>
                    </a:lnR>
                    <a:lnT w="2540" cap="flat" cmpd="sng">
                      <a:solidFill>
                        <a:srgbClr val="DFDFDF"/>
                      </a:solidFill>
                      <a:prstDash val="solid"/>
                      <a:headEnd type="none" w="med" len="med"/>
                      <a:tailEnd type="none" w="med" len="med"/>
                    </a:lnT>
                    <a:lnB w="2540" cap="flat" cmpd="sng">
                      <a:solidFill>
                        <a:srgbClr val="DFDFDF"/>
                      </a:solidFill>
                      <a:prstDash val="solid"/>
                      <a:headEnd type="none" w="med" len="med"/>
                      <a:tailEnd type="none" w="med" len="med"/>
                    </a:lnB>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b="1">
                <a:sym typeface="+mn-ea"/>
              </a:rPr>
              <a:t>Deterministic</a:t>
            </a:r>
            <a:r>
              <a:rPr lang="en-IN" altLang="en-US" b="1">
                <a:sym typeface="+mn-ea"/>
              </a:rPr>
              <a:t> Finite Automata</a:t>
            </a:r>
            <a:endParaRPr lang="en-US"/>
          </a:p>
        </p:txBody>
      </p:sp>
      <p:sp>
        <p:nvSpPr>
          <p:cNvPr id="3" name="Content Placeholder 2"/>
          <p:cNvSpPr>
            <a:spLocks noGrp="1"/>
          </p:cNvSpPr>
          <p:nvPr>
            <p:ph idx="1"/>
          </p:nvPr>
        </p:nvSpPr>
        <p:spPr>
          <a:xfrm>
            <a:off x="609600" y="1306830"/>
            <a:ext cx="10525125" cy="5196840"/>
          </a:xfrm>
        </p:spPr>
        <p:txBody>
          <a:bodyPr/>
          <a:p>
            <a:pPr marL="0" indent="0" algn="just">
              <a:buNone/>
            </a:pPr>
            <a:r>
              <a:rPr lang="en-US" altLang="en-US"/>
              <a:t>1. DFA that accepts all strings over “{0,1}” ending with “0”.</a:t>
            </a:r>
            <a:endParaRPr lang="en-US" altLang="en-US"/>
          </a:p>
          <a:p>
            <a:pPr marL="0" indent="0" algn="just">
              <a:buNone/>
            </a:pPr>
            <a:endParaRPr lang="en-US" altLang="en-US"/>
          </a:p>
          <a:p>
            <a:pPr marL="0" indent="0" algn="just">
              <a:buNone/>
            </a:pPr>
            <a:r>
              <a:rPr lang="en-US" altLang="en-US"/>
              <a:t>2. DFA that accepts strings with an even number of 1’s.</a:t>
            </a:r>
            <a:endParaRPr lang="en-US" altLang="en-US"/>
          </a:p>
          <a:p>
            <a:pPr marL="0" indent="0" algn="just">
              <a:buNone/>
            </a:pPr>
            <a:endParaRPr lang="en-US" altLang="en-US"/>
          </a:p>
          <a:p>
            <a:pPr marL="0" indent="0" algn="just">
              <a:buNone/>
            </a:pPr>
            <a:r>
              <a:rPr lang="en-US" altLang="en-US"/>
              <a:t>3. DFA that accepts all strings containing the substring “ab”.</a:t>
            </a:r>
            <a:endParaRPr lang="en-US" altLang="en-US"/>
          </a:p>
          <a:p>
            <a:pPr marL="0" indent="0" algn="just">
              <a:buNone/>
            </a:pPr>
            <a:endParaRPr lang="en-US" altLang="en-US"/>
          </a:p>
          <a:p>
            <a:pPr marL="494665" indent="-494665" algn="just">
              <a:buNone/>
            </a:pPr>
            <a:r>
              <a:rPr lang="en-US" altLang="en-US"/>
              <a:t>4. DFA that accepts strings over “{a,b}” with length divisible by 3.</a:t>
            </a:r>
            <a:endParaRPr lang="en-US" altLang="en-US"/>
          </a:p>
          <a:p>
            <a:pPr marL="0" indent="0" algn="just">
              <a:buNone/>
            </a:pP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b="1">
                <a:sym typeface="+mn-ea"/>
              </a:rPr>
              <a:t>Deterministic</a:t>
            </a:r>
            <a:r>
              <a:rPr lang="en-IN" altLang="en-US" b="1">
                <a:sym typeface="+mn-ea"/>
              </a:rPr>
              <a:t> Finite Automata</a:t>
            </a:r>
            <a:endParaRPr lang="en-US"/>
          </a:p>
        </p:txBody>
      </p:sp>
      <p:sp>
        <p:nvSpPr>
          <p:cNvPr id="3" name="Content Placeholder 2"/>
          <p:cNvSpPr>
            <a:spLocks noGrp="1"/>
          </p:cNvSpPr>
          <p:nvPr>
            <p:ph idx="1"/>
          </p:nvPr>
        </p:nvSpPr>
        <p:spPr>
          <a:xfrm>
            <a:off x="609600" y="1307465"/>
            <a:ext cx="10972800" cy="5549900"/>
          </a:xfrm>
        </p:spPr>
        <p:txBody>
          <a:bodyPr/>
          <a:p>
            <a:pPr marL="0" indent="0" algn="just">
              <a:buNone/>
            </a:pPr>
            <a:r>
              <a:rPr lang="en-US" altLang="en-US"/>
              <a:t>DFA that accepts all strings over {0,1} ending with 0</a:t>
            </a:r>
            <a:endParaRPr lang="en-US" altLang="en-US"/>
          </a:p>
          <a:p>
            <a:pPr marL="0" indent="0" algn="just">
              <a:buNone/>
            </a:pPr>
            <a:endParaRPr lang="en-US" altLang="en-US"/>
          </a:p>
          <a:p>
            <a:pPr marL="0" indent="0" algn="just">
              <a:buNone/>
            </a:pPr>
            <a:r>
              <a:rPr lang="en-US" altLang="en-US"/>
              <a:t>States: Q = {q0, q1}</a:t>
            </a:r>
            <a:endParaRPr lang="en-US" altLang="en-US"/>
          </a:p>
          <a:p>
            <a:pPr marL="0" indent="0" algn="just">
              <a:buNone/>
            </a:pPr>
            <a:r>
              <a:rPr lang="en-US" altLang="en-US"/>
              <a:t>Alphabet: Σ = {0,1}</a:t>
            </a:r>
            <a:endParaRPr lang="en-US" altLang="en-US"/>
          </a:p>
          <a:p>
            <a:pPr marL="0" indent="0" algn="just">
              <a:buNone/>
            </a:pPr>
            <a:r>
              <a:rPr lang="en-US" altLang="en-US"/>
              <a:t>Start state: q0</a:t>
            </a:r>
            <a:endParaRPr lang="en-US" altLang="en-US"/>
          </a:p>
          <a:p>
            <a:pPr marL="0" indent="0" algn="just">
              <a:buNone/>
            </a:pPr>
            <a:r>
              <a:rPr lang="en-US" altLang="en-US"/>
              <a:t>Final (accepting) state: q1</a:t>
            </a:r>
            <a:endParaRPr lang="en-US" altLang="en-US"/>
          </a:p>
          <a:p>
            <a:pPr marL="0" indent="0" algn="just">
              <a:buNone/>
            </a:pPr>
            <a:r>
              <a:rPr lang="en-US" altLang="en-US"/>
              <a:t>Transition function (δ):</a:t>
            </a:r>
            <a:endParaRPr lang="en-US" altLang="en-US"/>
          </a:p>
          <a:p>
            <a:pPr marL="0" lvl="0" indent="457200" algn="just">
              <a:buNone/>
            </a:pPr>
            <a:r>
              <a:rPr lang="en-US" altLang="en-US">
                <a:sym typeface="+mn-ea"/>
              </a:rPr>
              <a:t> 	δ(q0, 0) → q1			</a:t>
            </a:r>
            <a:r>
              <a:rPr lang="en-US" altLang="en-US">
                <a:sym typeface="+mn-ea"/>
              </a:rPr>
              <a:t>δ(q0, 1) → q0</a:t>
            </a:r>
            <a:endParaRPr lang="en-US" altLang="en-US">
              <a:sym typeface="+mn-ea"/>
            </a:endParaRPr>
          </a:p>
          <a:p>
            <a:pPr marL="0" indent="457200" algn="just">
              <a:buNone/>
            </a:pPr>
            <a:r>
              <a:rPr lang="en-US" altLang="en-US">
                <a:sym typeface="+mn-ea"/>
              </a:rPr>
              <a:t> 	δ(q1, 0) → q1			δ(q1, 1) → q0</a:t>
            </a:r>
            <a:endParaRPr lang="en-US" altLang="en-US"/>
          </a:p>
          <a:p>
            <a:pPr marL="0" indent="0" algn="just">
              <a:buNone/>
            </a:pPr>
            <a:endParaRPr lang="en-US" altLang="en-US"/>
          </a:p>
          <a:p>
            <a:pPr marL="0" indent="0" algn="just">
              <a:buNone/>
            </a:pP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b="1">
                <a:sym typeface="+mn-ea"/>
              </a:rPr>
              <a:t>Deterministic</a:t>
            </a:r>
            <a:r>
              <a:rPr lang="en-IN" altLang="en-US" b="1">
                <a:sym typeface="+mn-ea"/>
              </a:rPr>
              <a:t> Finite Automata</a:t>
            </a:r>
            <a:endParaRPr lang="en-US"/>
          </a:p>
        </p:txBody>
      </p:sp>
      <p:sp>
        <p:nvSpPr>
          <p:cNvPr id="3" name="Content Placeholder 2"/>
          <p:cNvSpPr>
            <a:spLocks noGrp="1"/>
          </p:cNvSpPr>
          <p:nvPr>
            <p:ph idx="1"/>
          </p:nvPr>
        </p:nvSpPr>
        <p:spPr>
          <a:xfrm>
            <a:off x="609600" y="1307465"/>
            <a:ext cx="10972800" cy="4820285"/>
          </a:xfrm>
        </p:spPr>
        <p:txBody>
          <a:bodyPr/>
          <a:p>
            <a:pPr marL="0" indent="0" algn="just">
              <a:buNone/>
            </a:pPr>
            <a:r>
              <a:rPr lang="en-US" altLang="en-US" b="1"/>
              <a:t>From state q0:</a:t>
            </a:r>
            <a:endParaRPr lang="en-US" altLang="en-US" b="1"/>
          </a:p>
          <a:p>
            <a:pPr marL="0" indent="0" algn="just">
              <a:buNone/>
            </a:pPr>
            <a:r>
              <a:rPr lang="en-US" altLang="en-US"/>
              <a:t>On input 0, the DFA moves to q1, indicating the string now ends with 0.</a:t>
            </a:r>
            <a:endParaRPr lang="en-US" altLang="en-US"/>
          </a:p>
          <a:p>
            <a:pPr marL="0" indent="0" algn="just">
              <a:buNone/>
            </a:pPr>
            <a:r>
              <a:rPr lang="en-US" altLang="en-US"/>
              <a:t>On input 1, it stays in q0, since the string ends with 1 and is not acceptable.</a:t>
            </a:r>
            <a:endParaRPr lang="en-US" altLang="en-US"/>
          </a:p>
          <a:p>
            <a:pPr marL="0" indent="0" algn="just">
              <a:buNone/>
            </a:pPr>
            <a:r>
              <a:rPr lang="en-US" altLang="en-US" b="1"/>
              <a:t>From state q1:</a:t>
            </a:r>
            <a:endParaRPr lang="en-US" altLang="en-US" b="1"/>
          </a:p>
          <a:p>
            <a:pPr marL="0" indent="0" algn="just">
              <a:buNone/>
            </a:pPr>
            <a:r>
              <a:rPr lang="en-US" altLang="en-US"/>
              <a:t>On input 0, the DFA remains in q1, as the string still ends with 0.</a:t>
            </a:r>
            <a:endParaRPr lang="en-US" altLang="en-US"/>
          </a:p>
          <a:p>
            <a:pPr marL="0" indent="0" algn="just">
              <a:buNone/>
            </a:pPr>
            <a:r>
              <a:rPr lang="en-US" altLang="en-US"/>
              <a:t>On input 1, it moves to q0, because the string now ends with 1.</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b="1">
                <a:sym typeface="+mn-ea"/>
              </a:rPr>
              <a:t>Deterministic</a:t>
            </a:r>
            <a:r>
              <a:rPr lang="en-IN" altLang="en-US" b="1">
                <a:sym typeface="+mn-ea"/>
              </a:rPr>
              <a:t> Finite Automata</a:t>
            </a:r>
            <a:endParaRPr lang="en-US"/>
          </a:p>
        </p:txBody>
      </p:sp>
      <p:sp>
        <p:nvSpPr>
          <p:cNvPr id="3" name="Content Placeholder 2"/>
          <p:cNvSpPr>
            <a:spLocks noGrp="1"/>
          </p:cNvSpPr>
          <p:nvPr>
            <p:ph idx="1"/>
          </p:nvPr>
        </p:nvSpPr>
        <p:spPr>
          <a:xfrm>
            <a:off x="609600" y="1307465"/>
            <a:ext cx="10972800" cy="4820285"/>
          </a:xfrm>
        </p:spPr>
        <p:txBody>
          <a:bodyPr/>
          <a:p>
            <a:pPr marL="0" indent="0" algn="just">
              <a:buNone/>
            </a:pPr>
            <a:r>
              <a:rPr lang="en-US" altLang="en-US"/>
              <a:t>Transition Table:</a:t>
            </a:r>
            <a:endParaRPr lang="en-US" altLang="en-US"/>
          </a:p>
          <a:p>
            <a:pPr marL="0" indent="0" algn="just">
              <a:buNone/>
            </a:pPr>
            <a:endParaRPr lang="en-US" altLang="en-US"/>
          </a:p>
          <a:p>
            <a:pPr marL="0" indent="0" algn="just">
              <a:buNone/>
            </a:pPr>
            <a:endParaRPr lang="en-US" altLang="en-US"/>
          </a:p>
          <a:p>
            <a:pPr marL="0" indent="0" algn="just">
              <a:buNone/>
            </a:pPr>
            <a:endParaRPr lang="en-US" altLang="en-US"/>
          </a:p>
          <a:p>
            <a:pPr marL="0" indent="0" algn="just">
              <a:buNone/>
            </a:pPr>
            <a:endParaRPr lang="en-US" altLang="en-US"/>
          </a:p>
          <a:p>
            <a:pPr marL="0" indent="0" algn="just">
              <a:buNone/>
            </a:pPr>
            <a:r>
              <a:rPr lang="en-US" altLang="en-US"/>
              <a:t>The DFA moves to q1 whenever the last symbol read is 0.</a:t>
            </a:r>
            <a:endParaRPr lang="en-US" altLang="en-US"/>
          </a:p>
          <a:p>
            <a:pPr marL="0" indent="0" algn="just">
              <a:buNone/>
            </a:pPr>
            <a:r>
              <a:rPr lang="en-US" altLang="en-US"/>
              <a:t>It moves to q0 when the last symbol read is 1.</a:t>
            </a:r>
            <a:endParaRPr lang="en-US" altLang="en-US"/>
          </a:p>
          <a:p>
            <a:pPr marL="0" indent="0" algn="just">
              <a:buNone/>
            </a:pPr>
            <a:r>
              <a:rPr lang="en-US" altLang="en-US"/>
              <a:t>Since q1 is the accepting state, all strings that end with 0 are accepted.</a:t>
            </a:r>
            <a:endParaRPr lang="en-US" altLang="en-US"/>
          </a:p>
        </p:txBody>
      </p:sp>
      <p:graphicFrame>
        <p:nvGraphicFramePr>
          <p:cNvPr id="4" name="Table 3"/>
          <p:cNvGraphicFramePr/>
          <p:nvPr>
            <p:custDataLst>
              <p:tags r:id="rId1"/>
            </p:custDataLst>
          </p:nvPr>
        </p:nvGraphicFramePr>
        <p:xfrm>
          <a:off x="2317115" y="2181225"/>
          <a:ext cx="7362190" cy="1524000"/>
        </p:xfrm>
        <a:graphic>
          <a:graphicData uri="http://schemas.openxmlformats.org/drawingml/2006/table">
            <a:tbl>
              <a:tblPr firstRow="1" bandRow="1">
                <a:tableStyleId>{5DA37D80-6434-44D0-A028-1B22A696006F}</a:tableStyleId>
              </a:tblPr>
              <a:tblGrid>
                <a:gridCol w="2874645"/>
                <a:gridCol w="2252345"/>
                <a:gridCol w="2235200"/>
              </a:tblGrid>
              <a:tr h="381000">
                <a:tc rowSpan="2">
                  <a:txBody>
                    <a:bodyPr/>
                    <a:p>
                      <a:pPr algn="ctr">
                        <a:buNone/>
                      </a:pPr>
                      <a:r>
                        <a:rPr lang="en-US"/>
                        <a:t>PRESENT STATE</a:t>
                      </a:r>
                      <a:endParaRPr lang="en-US"/>
                    </a:p>
                  </a:txBody>
                  <a:tcPr anchor="ctr" anchorCtr="0"/>
                </a:tc>
                <a:tc gridSpan="2">
                  <a:txBody>
                    <a:bodyPr/>
                    <a:p>
                      <a:pPr algn="ctr">
                        <a:buNone/>
                      </a:pPr>
                      <a:r>
                        <a:rPr lang="en-US"/>
                        <a:t>NEXT STATE</a:t>
                      </a:r>
                      <a:endParaRPr lang="en-US"/>
                    </a:p>
                  </a:txBody>
                  <a:tcPr anchor="ctr" anchorCtr="0"/>
                </a:tc>
                <a:tc hMerge="1">
                  <a:tcPr/>
                </a:tc>
              </a:tr>
              <a:tr h="381000">
                <a:tc vMerge="1">
                  <a:tcPr/>
                </a:tc>
                <a:tc>
                  <a:txBody>
                    <a:bodyPr/>
                    <a:p>
                      <a:pPr algn="ctr">
                        <a:buNone/>
                      </a:pPr>
                      <a:r>
                        <a:rPr lang="en-US"/>
                        <a:t>Input 0</a:t>
                      </a:r>
                      <a:endParaRPr lang="en-US"/>
                    </a:p>
                  </a:txBody>
                  <a:tcPr anchor="ctr" anchorCtr="0"/>
                </a:tc>
                <a:tc>
                  <a:txBody>
                    <a:bodyPr/>
                    <a:p>
                      <a:pPr algn="ctr">
                        <a:buNone/>
                      </a:pPr>
                      <a:r>
                        <a:rPr lang="en-US"/>
                        <a:t>Input 1</a:t>
                      </a:r>
                      <a:endParaRPr lang="en-US"/>
                    </a:p>
                  </a:txBody>
                  <a:tcPr anchor="ctr" anchorCtr="0"/>
                </a:tc>
              </a:tr>
              <a:tr h="381000">
                <a:tc>
                  <a:txBody>
                    <a:bodyPr/>
                    <a:p>
                      <a:pPr algn="ctr">
                        <a:buNone/>
                      </a:pPr>
                      <a:r>
                        <a:rPr lang="en-US"/>
                        <a:t>q0</a:t>
                      </a:r>
                      <a:endParaRPr lang="en-US"/>
                    </a:p>
                  </a:txBody>
                  <a:tcPr anchor="ctr" anchorCtr="0"/>
                </a:tc>
                <a:tc>
                  <a:txBody>
                    <a:bodyPr/>
                    <a:p>
                      <a:pPr algn="ctr">
                        <a:buNone/>
                      </a:pPr>
                      <a:r>
                        <a:rPr lang="en-US"/>
                        <a:t>q1</a:t>
                      </a:r>
                      <a:endParaRPr lang="en-US"/>
                    </a:p>
                  </a:txBody>
                  <a:tcPr anchor="ctr" anchorCtr="0"/>
                </a:tc>
                <a:tc>
                  <a:txBody>
                    <a:bodyPr/>
                    <a:p>
                      <a:pPr algn="ctr">
                        <a:buNone/>
                      </a:pPr>
                      <a:r>
                        <a:rPr lang="en-US"/>
                        <a:t>q0</a:t>
                      </a:r>
                      <a:endParaRPr lang="en-US"/>
                    </a:p>
                  </a:txBody>
                  <a:tcPr anchor="ctr" anchorCtr="0"/>
                </a:tc>
              </a:tr>
              <a:tr h="381000">
                <a:tc>
                  <a:txBody>
                    <a:bodyPr/>
                    <a:p>
                      <a:pPr algn="ctr">
                        <a:buNone/>
                      </a:pPr>
                      <a:r>
                        <a:rPr lang="en-US"/>
                        <a:t>q1</a:t>
                      </a:r>
                      <a:endParaRPr lang="en-US"/>
                    </a:p>
                  </a:txBody>
                  <a:tcPr anchor="ctr" anchorCtr="0"/>
                </a:tc>
                <a:tc>
                  <a:txBody>
                    <a:bodyPr/>
                    <a:p>
                      <a:pPr algn="ctr">
                        <a:buNone/>
                      </a:pPr>
                      <a:r>
                        <a:rPr lang="en-US"/>
                        <a:t>q1</a:t>
                      </a:r>
                      <a:endParaRPr lang="en-US"/>
                    </a:p>
                  </a:txBody>
                  <a:tcPr anchor="ctr" anchorCtr="0"/>
                </a:tc>
                <a:tc>
                  <a:txBody>
                    <a:bodyPr/>
                    <a:p>
                      <a:pPr algn="ctr">
                        <a:buNone/>
                      </a:pPr>
                      <a:r>
                        <a:rPr lang="en-US"/>
                        <a:t>q0</a:t>
                      </a:r>
                      <a:endParaRPr lang="en-US"/>
                    </a:p>
                  </a:txBody>
                  <a:tcPr anchor="ctr" anchorCtr="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b="1">
                <a:sym typeface="+mn-ea"/>
              </a:rPr>
              <a:t>Deterministic</a:t>
            </a:r>
            <a:r>
              <a:rPr lang="en-IN" altLang="en-US" b="1">
                <a:sym typeface="+mn-ea"/>
              </a:rPr>
              <a:t> Finite Automata</a:t>
            </a:r>
            <a:endParaRPr lang="en-US"/>
          </a:p>
        </p:txBody>
      </p:sp>
      <p:sp>
        <p:nvSpPr>
          <p:cNvPr id="3" name="Content Placeholder 2"/>
          <p:cNvSpPr>
            <a:spLocks noGrp="1"/>
          </p:cNvSpPr>
          <p:nvPr>
            <p:ph idx="1"/>
          </p:nvPr>
        </p:nvSpPr>
        <p:spPr>
          <a:xfrm>
            <a:off x="609600" y="1306830"/>
            <a:ext cx="10525125" cy="5196840"/>
          </a:xfrm>
        </p:spPr>
        <p:txBody>
          <a:bodyPr/>
          <a:p>
            <a:pPr marL="0" indent="0" algn="just">
              <a:buNone/>
            </a:pPr>
            <a:r>
              <a:rPr lang="en-US" altLang="en-US"/>
              <a:t>5. DFA that accepts strings over “{a,b}” with either the substring “ab” or “ba”.</a:t>
            </a:r>
            <a:endParaRPr lang="en-US" altLang="en-US"/>
          </a:p>
          <a:p>
            <a:pPr marL="0" indent="0" algn="just">
              <a:buNone/>
            </a:pPr>
            <a:endParaRPr lang="en-US" altLang="en-US"/>
          </a:p>
          <a:p>
            <a:pPr marL="0" indent="0" algn="just">
              <a:buNone/>
            </a:pPr>
            <a:r>
              <a:rPr lang="en-US" altLang="en-US"/>
              <a:t>6. </a:t>
            </a:r>
            <a:r>
              <a:rPr lang="en-US" altLang="en-US">
                <a:latin typeface="Segoe UI" panose="020B0502040204020203" charset="0"/>
                <a:cs typeface="Segoe UI" panose="020B0502040204020203" charset="0"/>
              </a:rPr>
              <a:t>Σ={a, b}. Accepts exactly 2 no. of ‘a’ and no restrictions over length of ‘b’.</a:t>
            </a:r>
            <a:endParaRPr lang="en-US" altLang="en-US">
              <a:latin typeface="Segoe UI" panose="020B0502040204020203" charset="0"/>
              <a:cs typeface="Segoe UI" panose="020B0502040204020203" charset="0"/>
            </a:endParaRPr>
          </a:p>
          <a:p>
            <a:pPr marL="0" indent="0" algn="ctr">
              <a:buNone/>
            </a:pPr>
            <a:r>
              <a:rPr lang="en-US" altLang="en-US">
                <a:latin typeface="Segoe UI" panose="020B0502040204020203" charset="0"/>
                <a:cs typeface="Segoe UI" panose="020B0502040204020203" charset="0"/>
              </a:rPr>
              <a:t>[Try for a&lt;=2 and a&gt;=2]</a:t>
            </a:r>
            <a:endParaRPr lang="en-US" altLang="en-US">
              <a:latin typeface="Segoe UI" panose="020B0502040204020203" charset="0"/>
              <a:cs typeface="Segoe UI" panose="020B0502040204020203" charset="0"/>
            </a:endParaRPr>
          </a:p>
          <a:p>
            <a:pPr marL="0" indent="0" algn="just">
              <a:buNone/>
            </a:pPr>
            <a:endParaRPr lang="en-US" altLang="en-US">
              <a:latin typeface="Segoe UI" panose="020B0502040204020203" charset="0"/>
              <a:cs typeface="Segoe UI" panose="020B0502040204020203" charset="0"/>
            </a:endParaRPr>
          </a:p>
          <a:p>
            <a:pPr marL="0" indent="0" algn="just">
              <a:buNone/>
            </a:pPr>
            <a:r>
              <a:rPr lang="en-US" altLang="en-US">
                <a:latin typeface="Segoe UI" panose="020B0502040204020203" charset="0"/>
                <a:cs typeface="Segoe UI" panose="020B0502040204020203" charset="0"/>
              </a:rPr>
              <a:t>7. </a:t>
            </a:r>
            <a:r>
              <a:rPr lang="en-US" altLang="en-US">
                <a:latin typeface="Segoe UI" panose="020B0502040204020203" charset="0"/>
                <a:cs typeface="Segoe UI" panose="020B0502040204020203" charset="0"/>
                <a:sym typeface="+mn-ea"/>
              </a:rPr>
              <a:t>Σ={a, b}. Accepts (a mod 2)=0 AND (b mod 2)=0.</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b="1">
                <a:sym typeface="+mn-ea"/>
              </a:rPr>
              <a:t>Deterministic</a:t>
            </a:r>
            <a:r>
              <a:rPr lang="en-IN" altLang="en-US" b="1">
                <a:sym typeface="+mn-ea"/>
              </a:rPr>
              <a:t> Finite Automata</a:t>
            </a:r>
            <a:endParaRPr lang="en-US"/>
          </a:p>
        </p:txBody>
      </p:sp>
      <p:sp>
        <p:nvSpPr>
          <p:cNvPr id="3" name="Content Placeholder 2"/>
          <p:cNvSpPr>
            <a:spLocks noGrp="1"/>
          </p:cNvSpPr>
          <p:nvPr>
            <p:ph idx="1"/>
          </p:nvPr>
        </p:nvSpPr>
        <p:spPr>
          <a:xfrm>
            <a:off x="609600" y="1306830"/>
            <a:ext cx="10525125" cy="5196840"/>
          </a:xfrm>
        </p:spPr>
        <p:txBody>
          <a:bodyPr/>
          <a:p>
            <a:pPr marL="0" indent="0" algn="just">
              <a:buNone/>
            </a:pPr>
            <a:r>
              <a:rPr lang="en-US" altLang="en-US"/>
              <a:t>8. DFA that accepts strings over “{a,b}” with both a(mod2)!=0 AND b(mod2)!=0. i.e. both the no. of ‘a’ and ‘b’ should be odd.</a:t>
            </a:r>
            <a:endParaRPr lang="en-US" altLang="en-US"/>
          </a:p>
          <a:p>
            <a:pPr marL="0" indent="0" algn="just">
              <a:buNone/>
            </a:pPr>
            <a:endParaRPr lang="en-US" altLang="en-US"/>
          </a:p>
          <a:p>
            <a:pPr marL="0" indent="0" algn="just">
              <a:buNone/>
            </a:pPr>
            <a:r>
              <a:rPr lang="en-US" altLang="en-US"/>
              <a:t>9. </a:t>
            </a:r>
            <a:r>
              <a:rPr lang="en-US" altLang="en-US">
                <a:latin typeface="Segoe UI" panose="020B0502040204020203" charset="0"/>
                <a:cs typeface="Segoe UI" panose="020B0502040204020203" charset="0"/>
              </a:rPr>
              <a:t>Σ={0, 1}. Accepts all binary numbers divisible by 2.</a:t>
            </a:r>
            <a:endParaRPr lang="en-US" altLang="en-US">
              <a:latin typeface="Segoe UI" panose="020B0502040204020203" charset="0"/>
              <a:cs typeface="Segoe UI" panose="020B0502040204020203" charset="0"/>
            </a:endParaRPr>
          </a:p>
          <a:p>
            <a:pPr marL="0" indent="0" algn="just">
              <a:buNone/>
            </a:pPr>
            <a:endParaRPr lang="en-US" altLang="en-US">
              <a:latin typeface="Segoe UI" panose="020B0502040204020203" charset="0"/>
              <a:cs typeface="Segoe UI" panose="020B0502040204020203" charset="0"/>
            </a:endParaRPr>
          </a:p>
          <a:p>
            <a:pPr marL="0" indent="0" algn="just">
              <a:buNone/>
            </a:pPr>
            <a:r>
              <a:rPr lang="en-US" altLang="en-US">
                <a:sym typeface="+mn-ea"/>
              </a:rPr>
              <a:t>10. </a:t>
            </a:r>
            <a:r>
              <a:rPr lang="en-US" altLang="en-US">
                <a:latin typeface="Segoe UI" panose="020B0502040204020203" charset="0"/>
                <a:cs typeface="Segoe UI" panose="020B0502040204020203" charset="0"/>
                <a:sym typeface="+mn-ea"/>
              </a:rPr>
              <a:t>Σ={0, 1}. Accepts all binary numbers divisible by 3.</a:t>
            </a:r>
            <a:endParaRPr lang="en-US" altLang="en-US">
              <a:latin typeface="Segoe UI" panose="020B0502040204020203" charset="0"/>
              <a:cs typeface="Segoe UI" panose="020B0502040204020203" charset="0"/>
            </a:endParaRPr>
          </a:p>
          <a:p>
            <a:pPr marL="0" indent="0" algn="just">
              <a:buNone/>
            </a:pPr>
            <a:endParaRPr lang="en-US" altLang="en-US">
              <a:latin typeface="Segoe UI" panose="020B0502040204020203" charset="0"/>
              <a:cs typeface="Segoe UI" panose="020B0502040204020203" charset="0"/>
            </a:endParaRPr>
          </a:p>
          <a:p>
            <a:pPr marL="0" indent="0" algn="just">
              <a:buNone/>
            </a:pPr>
            <a:r>
              <a:rPr lang="en-US" altLang="en-US">
                <a:latin typeface="Segoe UI" panose="020B0502040204020203" charset="0"/>
                <a:cs typeface="Segoe UI" panose="020B0502040204020203" charset="0"/>
              </a:rPr>
              <a:t>11. </a:t>
            </a:r>
            <a:r>
              <a:rPr lang="en-US" altLang="en-US">
                <a:latin typeface="Segoe UI" panose="020B0502040204020203" charset="0"/>
                <a:cs typeface="Segoe UI" panose="020B0502040204020203" charset="0"/>
                <a:sym typeface="+mn-ea"/>
              </a:rPr>
              <a:t>Σ={a, b}. Accepts all strings starting with ‘a’.</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16965"/>
          </a:xfrm>
        </p:spPr>
        <p:txBody>
          <a:bodyPr/>
          <a:p>
            <a:r>
              <a:rPr lang="en-US" b="1">
                <a:sym typeface="+mn-ea"/>
              </a:rPr>
              <a:t>Non-Deterministic</a:t>
            </a:r>
            <a:r>
              <a:rPr lang="en-IN" altLang="en-US" b="1">
                <a:sym typeface="+mn-ea"/>
              </a:rPr>
              <a:t> Finite Automata</a:t>
            </a:r>
            <a:endParaRPr lang="en-US"/>
          </a:p>
        </p:txBody>
      </p:sp>
      <p:sp>
        <p:nvSpPr>
          <p:cNvPr id="3" name="Content Placeholder 2"/>
          <p:cNvSpPr>
            <a:spLocks noGrp="1"/>
          </p:cNvSpPr>
          <p:nvPr>
            <p:ph idx="1"/>
          </p:nvPr>
        </p:nvSpPr>
        <p:spPr>
          <a:xfrm>
            <a:off x="609600" y="1306830"/>
            <a:ext cx="10525125" cy="5196840"/>
          </a:xfrm>
        </p:spPr>
        <p:txBody>
          <a:bodyPr/>
          <a:p>
            <a:pPr marL="514350" indent="-514350" algn="just">
              <a:buFont typeface="+mj-lt"/>
              <a:buAutoNum type="arabicPeriod" startAt="12"/>
            </a:pPr>
            <a:r>
              <a:rPr lang="en-US" altLang="en-US"/>
              <a:t> </a:t>
            </a:r>
            <a:r>
              <a:rPr lang="en-US" altLang="en-US">
                <a:latin typeface="Segoe UI" panose="020B0502040204020203" charset="0"/>
                <a:cs typeface="Segoe UI" panose="020B0502040204020203" charset="0"/>
              </a:rPr>
              <a:t>Σ={a, b}. Accepts only ‘baab’ or ‘bbb’.</a:t>
            </a:r>
            <a:endParaRPr lang="en-US" altLang="en-US">
              <a:latin typeface="Segoe UI" panose="020B0502040204020203" charset="0"/>
              <a:cs typeface="Segoe UI" panose="020B0502040204020203" charset="0"/>
            </a:endParaRPr>
          </a:p>
          <a:p>
            <a:pPr marL="514350" indent="-514350" algn="just">
              <a:buAutoNum type="arabicPeriod" startAt="12"/>
            </a:pPr>
            <a:r>
              <a:rPr lang="en-US" altLang="en-US">
                <a:sym typeface="+mn-ea"/>
              </a:rPr>
              <a:t> </a:t>
            </a:r>
            <a:r>
              <a:rPr lang="en-US" altLang="en-US">
                <a:latin typeface="Segoe UI" panose="020B0502040204020203" charset="0"/>
                <a:cs typeface="Segoe UI" panose="020B0502040204020203" charset="0"/>
                <a:sym typeface="+mn-ea"/>
              </a:rPr>
              <a:t>Σ={a, b}. Accepts all strings ending with ‘aa’.</a:t>
            </a:r>
            <a:endParaRPr lang="en-US" altLang="en-US">
              <a:latin typeface="Segoe UI" panose="020B0502040204020203" charset="0"/>
              <a:cs typeface="Segoe UI" panose="020B0502040204020203" charset="0"/>
              <a:sym typeface="+mn-ea"/>
            </a:endParaRPr>
          </a:p>
          <a:p>
            <a:pPr marL="514350" indent="-514350" algn="just">
              <a:buAutoNum type="arabicPeriod" startAt="12"/>
            </a:pPr>
            <a:r>
              <a:rPr lang="en-US" altLang="en-US"/>
              <a:t> </a:t>
            </a:r>
            <a:r>
              <a:rPr lang="en-US" altLang="en-US">
                <a:latin typeface="Segoe UI" panose="020B0502040204020203" charset="0"/>
                <a:cs typeface="Segoe UI" panose="020B0502040204020203" charset="0"/>
                <a:sym typeface="+mn-ea"/>
              </a:rPr>
              <a:t>Σ={0, 1}. For all binary strings where the second to last bit is ‘1’.</a:t>
            </a:r>
            <a:endParaRPr lang="en-US" altLang="en-US">
              <a:latin typeface="Segoe UI" panose="020B0502040204020203" charset="0"/>
              <a:cs typeface="Segoe UI" panose="020B0502040204020203" charset="0"/>
              <a:sym typeface="+mn-ea"/>
            </a:endParaRPr>
          </a:p>
          <a:p>
            <a:pPr marL="514350" indent="-514350" algn="just">
              <a:buAutoNum type="arabicPeriod" startAt="12"/>
            </a:pPr>
            <a:r>
              <a:rPr lang="en-US" altLang="en-US">
                <a:latin typeface="Segoe UI" panose="020B0502040204020203" charset="0"/>
                <a:cs typeface="Segoe UI" panose="020B0502040204020203" charset="0"/>
                <a:sym typeface="+mn-ea"/>
              </a:rPr>
              <a:t> Σ={a, b}. Accepts all strings staring with zero or more repititions of ‘aa’ and ending with ‘b’.</a:t>
            </a:r>
            <a:endParaRPr lang="en-US" altLang="en-US">
              <a:latin typeface="Segoe UI" panose="020B0502040204020203" charset="0"/>
              <a:cs typeface="Segoe UI" panose="020B0502040204020203" charset="0"/>
              <a:sym typeface="+mn-ea"/>
            </a:endParaRPr>
          </a:p>
          <a:p>
            <a:pPr marL="514350" indent="-514350" algn="just">
              <a:buAutoNum type="arabicPeriod" startAt="12"/>
            </a:pPr>
            <a:r>
              <a:rPr lang="en-US" altLang="en-US">
                <a:latin typeface="Segoe UI" panose="020B0502040204020203" charset="0"/>
                <a:cs typeface="Segoe UI" panose="020B0502040204020203" charset="0"/>
                <a:sym typeface="+mn-ea"/>
              </a:rPr>
              <a:t> Σ={a, b}. Accepts all strings staring with zero or more repititions of ‘aa’ OR ‘aab’ &amp; ending with ‘b’.</a:t>
            </a:r>
            <a:endParaRPr lang="en-US" altLang="en-US">
              <a:latin typeface="Segoe UI" panose="020B0502040204020203" charset="0"/>
              <a:cs typeface="Segoe UI" panose="020B0502040204020203" charset="0"/>
              <a:sym typeface="+mn-ea"/>
            </a:endParaRPr>
          </a:p>
          <a:p>
            <a:pPr marL="514350" indent="-514350" algn="just">
              <a:buAutoNum type="arabicPeriod" startAt="12"/>
            </a:pPr>
            <a:r>
              <a:rPr lang="en-US" altLang="en-US">
                <a:latin typeface="Segoe UI" panose="020B0502040204020203" charset="0"/>
                <a:cs typeface="Segoe UI" panose="020B0502040204020203" charset="0"/>
                <a:sym typeface="+mn-ea"/>
              </a:rPr>
              <a:t> Σ={a, b, c}. Accepts all strings ending with ‘bca’.</a:t>
            </a: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67635"/>
            <a:ext cx="9144000" cy="1523365"/>
          </a:xfrm>
        </p:spPr>
        <p:txBody>
          <a:bodyPr anchor="ctr" anchorCtr="0"/>
          <a:lstStyle/>
          <a:p>
            <a:r>
              <a:rPr lang="en-US" b="1" dirty="0"/>
              <a:t>THANK YOU</a:t>
            </a:r>
            <a:endParaRPr lang="en-US" b="1" dirty="0"/>
          </a:p>
        </p:txBody>
      </p:sp>
    </p:spTree>
  </p:cSld>
  <p:clrMapOvr>
    <a:masterClrMapping/>
  </p:clrMapOvr>
</p:sld>
</file>

<file path=ppt/tags/tag1.xml><?xml version="1.0" encoding="utf-8"?>
<p:tagLst xmlns:p="http://schemas.openxmlformats.org/presentationml/2006/main">
  <p:tag name="TABLE_ENDDRAG_ORIGIN_RECT" val="844*251"/>
  <p:tag name="TABLE_ENDDRAG_RECT" val="48*102*844*251"/>
</p:tagLst>
</file>

<file path=ppt/tags/tag2.xml><?xml version="1.0" encoding="utf-8"?>
<p:tagLst xmlns:p="http://schemas.openxmlformats.org/presentationml/2006/main">
  <p:tag name="TABLE_ENDDRAG_ORIGIN_RECT" val="609*120"/>
  <p:tag name="TABLE_ENDDRAG_RECT" val="144*171*609*120"/>
</p:tagLst>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7176</Words>
  <Application>WPS Presentation</Application>
  <PresentationFormat>Widescreen</PresentationFormat>
  <Paragraphs>257</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Microsoft YaHei</vt:lpstr>
      <vt:lpstr>Arial Unicode MS</vt:lpstr>
      <vt:lpstr>Calibri</vt:lpstr>
      <vt:lpstr>Times New Roman</vt:lpstr>
      <vt:lpstr>Nunito</vt:lpstr>
      <vt:lpstr>Segoe Print</vt:lpstr>
      <vt:lpstr>Segoe UI</vt:lpstr>
      <vt:lpstr>Gear Drives</vt:lpstr>
      <vt:lpstr>Formal Language and Automata Theory</vt:lpstr>
      <vt:lpstr>PowerPoint 演示文稿</vt:lpstr>
      <vt:lpstr>Introduction to Automata Theory</vt:lpstr>
      <vt:lpstr>Why Study Automata Theory?</vt:lpstr>
      <vt:lpstr>What is an Automaton?</vt:lpstr>
      <vt:lpstr>Types of Automata</vt:lpstr>
      <vt:lpstr>Introduction to Finite Automata</vt:lpstr>
      <vt:lpstr>Features of Finite Automata</vt:lpstr>
      <vt:lpstr>Application and Definition of Finite Automata</vt:lpstr>
      <vt:lpstr>Formal Definition of Finite Automata</vt:lpstr>
      <vt:lpstr>Representation of Finite Automata</vt:lpstr>
      <vt:lpstr>Working of a Finite Automata</vt:lpstr>
      <vt:lpstr>Finite Automata: Limitations</vt:lpstr>
      <vt:lpstr>Types of Finite Automata</vt:lpstr>
      <vt:lpstr>Types of Finite Automata</vt:lpstr>
      <vt:lpstr>Types of Finite Automata</vt:lpstr>
      <vt:lpstr>Deterministic Finite Automata</vt:lpstr>
      <vt:lpstr>Deterministic Finite Automata</vt:lpstr>
      <vt:lpstr>Deterministic Finite Automata</vt:lpstr>
      <vt:lpstr>Deterministic Finite Automata</vt:lpstr>
      <vt:lpstr>Deterministic Finite Automata</vt:lpstr>
      <vt:lpstr>Deterministic Finite Automata</vt:lpstr>
      <vt:lpstr>Deterministic Finite Automata</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Meghna Saikia</dc:creator>
  <cp:lastModifiedBy>Meg S</cp:lastModifiedBy>
  <cp:revision>30</cp:revision>
  <dcterms:created xsi:type="dcterms:W3CDTF">2025-07-23T00:59:00Z</dcterms:created>
  <dcterms:modified xsi:type="dcterms:W3CDTF">2026-03-10T05:28:30Z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1033-12.2.0.23196</vt:lpwstr>
  </property>
</Properties>
</file>